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3004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3"/>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Shape 1"/>
          <p:cNvSpPr/>
          <p:nvPr/>
        </p:nvSpPr>
        <p:spPr>
          <a:xfrm>
            <a:off x="0" y="4663440"/>
            <a:ext cx="9144000" cy="480060"/>
          </a:xfrm>
          <a:prstGeom prst="rect">
            <a:avLst/>
          </a:prstGeom>
          <a:solidFill>
            <a:srgbClr val="1B2A4A"/>
          </a:solidFill>
          <a:ln/>
        </p:spPr>
      </p:sp>
      <p:sp>
        <p:nvSpPr>
          <p:cNvPr id="4" name="Text 2"/>
          <p:cNvSpPr/>
          <p:nvPr/>
        </p:nvSpPr>
        <p:spPr>
          <a:xfrm>
            <a:off x="457200" y="228600"/>
            <a:ext cx="8229600" cy="320040"/>
          </a:xfrm>
          <a:prstGeom prst="rect">
            <a:avLst/>
          </a:prstGeom>
          <a:noFill/>
          <a:ln/>
        </p:spPr>
        <p:txBody>
          <a:bodyPr wrap="square" rtlCol="0" anchor="ctr"/>
          <a:lstStyle/>
          <a:p>
            <a:pPr marL="0" indent="0" algn="ctr">
              <a:buNone/>
            </a:pPr>
            <a:endParaRPr lang="en-US" sz="1400" dirty="0"/>
          </a:p>
        </p:txBody>
      </p:sp>
      <p:sp>
        <p:nvSpPr>
          <p:cNvPr id="5" name="Text 3"/>
          <p:cNvSpPr/>
          <p:nvPr/>
        </p:nvSpPr>
        <p:spPr>
          <a:xfrm>
            <a:off x="457200" y="879014"/>
            <a:ext cx="8229600" cy="274320"/>
          </a:xfrm>
          <a:prstGeom prst="rect">
            <a:avLst/>
          </a:prstGeom>
          <a:noFill/>
          <a:ln/>
        </p:spPr>
        <p:txBody>
          <a:bodyPr wrap="square" rtlCol="0" anchor="ctr"/>
          <a:lstStyle/>
          <a:p>
            <a:pPr marL="0" indent="0" algn="ctr">
              <a:buNone/>
            </a:pPr>
            <a:r>
              <a:rPr lang="en-US" sz="1300" dirty="0">
                <a:solidFill>
                  <a:srgbClr val="E8E4DD"/>
                </a:solidFill>
                <a:latin typeface="Calibri" pitchFamily="34" charset="0"/>
                <a:ea typeface="Calibri" pitchFamily="34" charset="-122"/>
                <a:cs typeface="Calibri" pitchFamily="34" charset="-120"/>
              </a:rPr>
              <a:t>BCS 3101: MACHINE LEARNING</a:t>
            </a:r>
            <a:endParaRPr lang="en-US" sz="1300" dirty="0"/>
          </a:p>
        </p:txBody>
      </p:sp>
      <p:sp>
        <p:nvSpPr>
          <p:cNvPr id="7" name="Text 5"/>
          <p:cNvSpPr/>
          <p:nvPr/>
        </p:nvSpPr>
        <p:spPr>
          <a:xfrm>
            <a:off x="413358" y="1052750"/>
            <a:ext cx="8229600" cy="1463040"/>
          </a:xfrm>
          <a:prstGeom prst="rect">
            <a:avLst/>
          </a:prstGeom>
          <a:noFill/>
          <a:ln/>
        </p:spPr>
        <p:txBody>
          <a:bodyPr wrap="square" rtlCol="0" anchor="ctr"/>
          <a:lstStyle/>
          <a:p>
            <a:pPr marL="0" indent="0" algn="ctr">
              <a:lnSpc>
                <a:spcPct val="115000"/>
              </a:lnSpc>
              <a:buNone/>
            </a:pPr>
            <a:r>
              <a:rPr lang="en-US" sz="2200" b="1" dirty="0">
                <a:solidFill>
                  <a:srgbClr val="FFFFFF"/>
                </a:solidFill>
                <a:latin typeface="Century Gothic" pitchFamily="34" charset="0"/>
                <a:ea typeface="Century Gothic" pitchFamily="34" charset="-122"/>
                <a:cs typeface="Century Gothic" pitchFamily="34" charset="-120"/>
              </a:rPr>
              <a:t>Predicting Monthly Maize and Beans Prices</a:t>
            </a:r>
            <a:endParaRPr lang="en-US" sz="2200" dirty="0"/>
          </a:p>
          <a:p>
            <a:pPr marL="0" indent="0" algn="ctr">
              <a:lnSpc>
                <a:spcPct val="115000"/>
              </a:lnSpc>
              <a:buNone/>
            </a:pPr>
            <a:r>
              <a:rPr lang="en-US" sz="2200" b="1" dirty="0">
                <a:solidFill>
                  <a:srgbClr val="FFFFFF"/>
                </a:solidFill>
                <a:latin typeface="Century Gothic" pitchFamily="34" charset="0"/>
                <a:ea typeface="Century Gothic" pitchFamily="34" charset="-122"/>
                <a:cs typeface="Century Gothic" pitchFamily="34" charset="-120"/>
              </a:rPr>
              <a:t>in Selected Ugandan Markets Using</a:t>
            </a:r>
            <a:endParaRPr lang="en-US" sz="2200" dirty="0"/>
          </a:p>
          <a:p>
            <a:pPr marL="0" indent="0" algn="ctr">
              <a:lnSpc>
                <a:spcPct val="115000"/>
              </a:lnSpc>
              <a:buNone/>
            </a:pPr>
            <a:r>
              <a:rPr lang="en-US" sz="2200" b="1" dirty="0">
                <a:solidFill>
                  <a:srgbClr val="FFFFFF"/>
                </a:solidFill>
                <a:latin typeface="Century Gothic" pitchFamily="34" charset="0"/>
                <a:ea typeface="Century Gothic" pitchFamily="34" charset="-122"/>
                <a:cs typeface="Century Gothic" pitchFamily="34" charset="-120"/>
              </a:rPr>
              <a:t>Historical Price and Market Data</a:t>
            </a:r>
            <a:endParaRPr lang="en-US" sz="2200" dirty="0"/>
          </a:p>
        </p:txBody>
      </p:sp>
      <p:sp>
        <p:nvSpPr>
          <p:cNvPr id="8" name="Text 6"/>
          <p:cNvSpPr/>
          <p:nvPr/>
        </p:nvSpPr>
        <p:spPr>
          <a:xfrm>
            <a:off x="3532340" y="2331501"/>
            <a:ext cx="2185792" cy="274320"/>
          </a:xfrm>
          <a:prstGeom prst="rect">
            <a:avLst/>
          </a:prstGeom>
          <a:noFill/>
          <a:ln/>
        </p:spPr>
        <p:txBody>
          <a:bodyPr wrap="square" rtlCol="0" anchor="ctr"/>
          <a:lstStyle/>
          <a:p>
            <a:pPr marL="0" indent="0" algn="ctr">
              <a:buNone/>
            </a:pPr>
            <a:r>
              <a:rPr lang="en-US" sz="1200" b="1" dirty="0">
                <a:solidFill>
                  <a:srgbClr val="D4A843"/>
                </a:solidFill>
                <a:latin typeface="Calibri" pitchFamily="34" charset="0"/>
                <a:ea typeface="Calibri" pitchFamily="34" charset="-122"/>
                <a:cs typeface="Calibri" pitchFamily="34" charset="-120"/>
              </a:rPr>
              <a:t>Group Members</a:t>
            </a:r>
            <a:endParaRPr lang="en-US" sz="1200" dirty="0"/>
          </a:p>
        </p:txBody>
      </p:sp>
      <p:sp>
        <p:nvSpPr>
          <p:cNvPr id="9" name="Text 7"/>
          <p:cNvSpPr/>
          <p:nvPr/>
        </p:nvSpPr>
        <p:spPr>
          <a:xfrm>
            <a:off x="365760" y="3154680"/>
            <a:ext cx="8412480" cy="914400"/>
          </a:xfrm>
          <a:prstGeom prst="rect">
            <a:avLst/>
          </a:prstGeom>
          <a:noFill/>
          <a:ln/>
        </p:spPr>
        <p:txBody>
          <a:bodyPr wrap="square" rtlCol="0" anchor="ctr"/>
          <a:lstStyle/>
          <a:p>
            <a:pPr marL="0" indent="0" algn="ctr">
              <a:lnSpc>
                <a:spcPct val="120000"/>
              </a:lnSpc>
              <a:buNone/>
            </a:pPr>
            <a:endParaRPr lang="en-US" sz="1000" dirty="0"/>
          </a:p>
        </p:txBody>
      </p:sp>
      <p:sp>
        <p:nvSpPr>
          <p:cNvPr id="10" name="Text 8"/>
          <p:cNvSpPr/>
          <p:nvPr/>
        </p:nvSpPr>
        <p:spPr>
          <a:xfrm>
            <a:off x="457200" y="4800600"/>
            <a:ext cx="8229600" cy="228600"/>
          </a:xfrm>
          <a:prstGeom prst="rect">
            <a:avLst/>
          </a:prstGeom>
          <a:noFill/>
          <a:ln/>
        </p:spPr>
        <p:txBody>
          <a:bodyPr wrap="square" rtlCol="0" anchor="ctr"/>
          <a:lstStyle/>
          <a:p>
            <a:pPr marL="0" indent="0" algn="ctr">
              <a:buNone/>
            </a:pPr>
            <a:r>
              <a:rPr lang="en-US" sz="1100" dirty="0">
                <a:solidFill>
                  <a:srgbClr val="D4A843"/>
                </a:solidFill>
                <a:latin typeface="Calibri" pitchFamily="34" charset="0"/>
                <a:ea typeface="Calibri" pitchFamily="34" charset="-122"/>
                <a:cs typeface="Calibri" pitchFamily="34" charset="-120"/>
              </a:rPr>
              <a:t>GitHub: https://github.com/Allan12377/BCS3101-Assignment2-Maize-Beans-Prices</a:t>
            </a:r>
            <a:endParaRPr lang="en-US" sz="1100" dirty="0"/>
          </a:p>
        </p:txBody>
      </p:sp>
      <p:pic>
        <p:nvPicPr>
          <p:cNvPr id="12" name="Picture 11">
            <a:extLst>
              <a:ext uri="{FF2B5EF4-FFF2-40B4-BE49-F238E27FC236}">
                <a16:creationId xmlns:a16="http://schemas.microsoft.com/office/drawing/2014/main" id="{2453F5DE-1D54-EEE8-FBE4-C5188F1BA65E}"/>
              </a:ext>
            </a:extLst>
          </p:cNvPr>
          <p:cNvPicPr>
            <a:picLocks noChangeAspect="1"/>
          </p:cNvPicPr>
          <p:nvPr/>
        </p:nvPicPr>
        <p:blipFill>
          <a:blip r:embed="rId3"/>
          <a:stretch>
            <a:fillRect/>
          </a:stretch>
        </p:blipFill>
        <p:spPr>
          <a:xfrm>
            <a:off x="2730674" y="115864"/>
            <a:ext cx="3413342" cy="771699"/>
          </a:xfrm>
          <a:prstGeom prst="rect">
            <a:avLst/>
          </a:prstGeom>
        </p:spPr>
      </p:pic>
      <p:graphicFrame>
        <p:nvGraphicFramePr>
          <p:cNvPr id="13" name="Table 12">
            <a:extLst>
              <a:ext uri="{FF2B5EF4-FFF2-40B4-BE49-F238E27FC236}">
                <a16:creationId xmlns:a16="http://schemas.microsoft.com/office/drawing/2014/main" id="{DA083B1E-6609-E230-E52C-3431A051370E}"/>
              </a:ext>
            </a:extLst>
          </p:cNvPr>
          <p:cNvGraphicFramePr>
            <a:graphicFrameLocks noGrp="1"/>
          </p:cNvGraphicFramePr>
          <p:nvPr>
            <p:extLst>
              <p:ext uri="{D42A27DB-BD31-4B8C-83A1-F6EECF244321}">
                <p14:modId xmlns:p14="http://schemas.microsoft.com/office/powerpoint/2010/main" val="2819360094"/>
              </p:ext>
            </p:extLst>
          </p:nvPr>
        </p:nvGraphicFramePr>
        <p:xfrm>
          <a:off x="2198331" y="2605821"/>
          <a:ext cx="4853810" cy="1931416"/>
        </p:xfrm>
        <a:graphic>
          <a:graphicData uri="http://schemas.openxmlformats.org/drawingml/2006/table">
            <a:tbl>
              <a:tblPr firstRow="1" firstCol="1" bandRow="1">
                <a:tableStyleId>{5C22544A-7EE6-4342-B048-85BDC9FD1C3A}</a:tableStyleId>
              </a:tblPr>
              <a:tblGrid>
                <a:gridCol w="446487">
                  <a:extLst>
                    <a:ext uri="{9D8B030D-6E8A-4147-A177-3AD203B41FA5}">
                      <a16:colId xmlns:a16="http://schemas.microsoft.com/office/drawing/2014/main" val="3726412724"/>
                    </a:ext>
                  </a:extLst>
                </a:gridCol>
                <a:gridCol w="2344222">
                  <a:extLst>
                    <a:ext uri="{9D8B030D-6E8A-4147-A177-3AD203B41FA5}">
                      <a16:colId xmlns:a16="http://schemas.microsoft.com/office/drawing/2014/main" val="2003099752"/>
                    </a:ext>
                  </a:extLst>
                </a:gridCol>
                <a:gridCol w="2063101">
                  <a:extLst>
                    <a:ext uri="{9D8B030D-6E8A-4147-A177-3AD203B41FA5}">
                      <a16:colId xmlns:a16="http://schemas.microsoft.com/office/drawing/2014/main" val="3600335438"/>
                    </a:ext>
                  </a:extLst>
                </a:gridCol>
              </a:tblGrid>
              <a:tr h="0">
                <a:tc>
                  <a:txBody>
                    <a:bodyPr/>
                    <a:lstStyle/>
                    <a:p>
                      <a:pPr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No.</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800"/>
                        </a:spcAft>
                        <a:buNone/>
                      </a:pPr>
                      <a:r>
                        <a:rPr lang="en-US" sz="1200" dirty="0">
                          <a:effectLst/>
                          <a:latin typeface="Times New Roman" panose="02020603050405020304" pitchFamily="18" charset="0"/>
                          <a:cs typeface="Times New Roman" panose="02020603050405020304" pitchFamily="18" charset="0"/>
                        </a:rPr>
                        <a:t>Names</a:t>
                      </a:r>
                      <a:endParaRPr lang="en-UG" sz="1200" dirty="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Reg no.</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27850529"/>
                  </a:ext>
                </a:extLst>
              </a:tr>
              <a:tr h="0">
                <a:tc>
                  <a:txBody>
                    <a:bodyPr/>
                    <a:lstStyle/>
                    <a:p>
                      <a:pPr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1.</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800"/>
                        </a:spcAft>
                        <a:buNone/>
                      </a:pPr>
                      <a:r>
                        <a:rPr lang="en-US" sz="1200" dirty="0">
                          <a:effectLst/>
                          <a:latin typeface="Times New Roman" panose="02020603050405020304" pitchFamily="18" charset="0"/>
                          <a:cs typeface="Times New Roman" panose="02020603050405020304" pitchFamily="18" charset="0"/>
                        </a:rPr>
                        <a:t>AYEN GEOFFREY ALEXANDER   </a:t>
                      </a:r>
                      <a:endParaRPr lang="en-UG" sz="1200" dirty="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2024/A/KCS/5102/G/F</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965574950"/>
                  </a:ext>
                </a:extLst>
              </a:tr>
              <a:tr h="0">
                <a:tc>
                  <a:txBody>
                    <a:bodyPr/>
                    <a:lstStyle/>
                    <a:p>
                      <a:pPr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2.</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KUKUNDAKWE SAVIOUS    </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200"/>
                        </a:spcAft>
                        <a:buNone/>
                      </a:pPr>
                      <a:r>
                        <a:rPr lang="en-US" sz="1200">
                          <a:effectLst/>
                          <a:latin typeface="Times New Roman" panose="02020603050405020304" pitchFamily="18" charset="0"/>
                          <a:cs typeface="Times New Roman" panose="02020603050405020304" pitchFamily="18" charset="0"/>
                        </a:rPr>
                        <a:t>2024/A/KCS/4333/F</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5402198"/>
                  </a:ext>
                </a:extLst>
              </a:tr>
              <a:tr h="0">
                <a:tc>
                  <a:txBody>
                    <a:bodyPr/>
                    <a:lstStyle/>
                    <a:p>
                      <a:pPr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3.</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AINEBYONA ALLAN    </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200"/>
                        </a:spcAft>
                        <a:buNone/>
                      </a:pPr>
                      <a:r>
                        <a:rPr lang="en-US" sz="1200">
                          <a:effectLst/>
                          <a:latin typeface="Times New Roman" panose="02020603050405020304" pitchFamily="18" charset="0"/>
                          <a:cs typeface="Times New Roman" panose="02020603050405020304" pitchFamily="18" charset="0"/>
                        </a:rPr>
                        <a:t>2024/A/KCS/1670/F</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67294611"/>
                  </a:ext>
                </a:extLst>
              </a:tr>
              <a:tr h="0">
                <a:tc>
                  <a:txBody>
                    <a:bodyPr/>
                    <a:lstStyle/>
                    <a:p>
                      <a:pPr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4.</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KYOSHABIRE DIANAH    </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200"/>
                        </a:spcAft>
                        <a:buNone/>
                      </a:pPr>
                      <a:r>
                        <a:rPr lang="en-US" sz="1200" dirty="0">
                          <a:effectLst/>
                          <a:latin typeface="Times New Roman" panose="02020603050405020304" pitchFamily="18" charset="0"/>
                          <a:cs typeface="Times New Roman" panose="02020603050405020304" pitchFamily="18" charset="0"/>
                        </a:rPr>
                        <a:t>2024/A/KCS/5188/G/F</a:t>
                      </a:r>
                      <a:endParaRPr lang="en-UG" sz="1200" dirty="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75202384"/>
                  </a:ext>
                </a:extLst>
              </a:tr>
              <a:tr h="0">
                <a:tc>
                  <a:txBody>
                    <a:bodyPr/>
                    <a:lstStyle/>
                    <a:p>
                      <a:pPr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5.</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NIYONSHUTI MERCY    </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200"/>
                        </a:spcAft>
                        <a:buNone/>
                      </a:pPr>
                      <a:r>
                        <a:rPr lang="en-US" sz="1200">
                          <a:effectLst/>
                          <a:latin typeface="Times New Roman" panose="02020603050405020304" pitchFamily="18" charset="0"/>
                          <a:cs typeface="Times New Roman" panose="02020603050405020304" pitchFamily="18" charset="0"/>
                        </a:rPr>
                        <a:t>2025/A/KCS/6117/F</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68926935"/>
                  </a:ext>
                </a:extLst>
              </a:tr>
              <a:tr h="0">
                <a:tc>
                  <a:txBody>
                    <a:bodyPr/>
                    <a:lstStyle/>
                    <a:p>
                      <a:pPr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6.</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ARINDA ELIZABETH    </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200"/>
                        </a:spcAft>
                        <a:buNone/>
                      </a:pPr>
                      <a:r>
                        <a:rPr lang="en-US" sz="1200">
                          <a:effectLst/>
                          <a:latin typeface="Times New Roman" panose="02020603050405020304" pitchFamily="18" charset="0"/>
                          <a:cs typeface="Times New Roman" panose="02020603050405020304" pitchFamily="18" charset="0"/>
                        </a:rPr>
                        <a:t>2024/A/KCS/3099/G/F</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4229233"/>
                  </a:ext>
                </a:extLst>
              </a:tr>
              <a:tr h="0">
                <a:tc>
                  <a:txBody>
                    <a:bodyPr/>
                    <a:lstStyle/>
                    <a:p>
                      <a:pPr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7.</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800"/>
                        </a:spcAft>
                        <a:buNone/>
                      </a:pPr>
                      <a:r>
                        <a:rPr lang="en-US" sz="1200">
                          <a:effectLst/>
                          <a:latin typeface="Times New Roman" panose="02020603050405020304" pitchFamily="18" charset="0"/>
                          <a:cs typeface="Times New Roman" panose="02020603050405020304" pitchFamily="18" charset="0"/>
                        </a:rPr>
                        <a:t>GUMISIRIZA AMBROSE    </a:t>
                      </a:r>
                      <a:endParaRPr lang="en-UG" sz="120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200"/>
                        </a:spcAft>
                        <a:buNone/>
                      </a:pPr>
                      <a:r>
                        <a:rPr lang="en-US" sz="1200" dirty="0">
                          <a:effectLst/>
                          <a:latin typeface="Times New Roman" panose="02020603050405020304" pitchFamily="18" charset="0"/>
                          <a:cs typeface="Times New Roman" panose="02020603050405020304" pitchFamily="18" charset="0"/>
                        </a:rPr>
                        <a:t>2024/A/KCS/3143/F</a:t>
                      </a:r>
                      <a:endParaRPr lang="en-UG" sz="1200" dirty="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30963965"/>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228600"/>
            <a:ext cx="8229600" cy="365760"/>
          </a:xfrm>
          <a:prstGeom prst="rect">
            <a:avLst/>
          </a:prstGeom>
          <a:noFill/>
          <a:ln/>
        </p:spPr>
        <p:txBody>
          <a:bodyPr wrap="square" rtlCol="0" anchor="ctr"/>
          <a:lstStyle/>
          <a:p>
            <a:pPr marL="0" indent="0">
              <a:buNone/>
            </a:pPr>
            <a:r>
              <a:rPr lang="en-US" sz="2200" b="1" dirty="0">
                <a:solidFill>
                  <a:srgbClr val="1B2A4A"/>
                </a:solidFill>
                <a:latin typeface="Century Gothic" pitchFamily="34" charset="0"/>
                <a:ea typeface="Century Gothic" pitchFamily="34" charset="-122"/>
                <a:cs typeface="Century Gothic" pitchFamily="34" charset="-120"/>
              </a:rPr>
              <a:t>WHAT WE WILL COVER</a:t>
            </a:r>
            <a:endParaRPr lang="en-US" sz="2200" dirty="0"/>
          </a:p>
        </p:txBody>
      </p:sp>
      <p:sp>
        <p:nvSpPr>
          <p:cNvPr id="4" name="Shape 2"/>
          <p:cNvSpPr/>
          <p:nvPr/>
        </p:nvSpPr>
        <p:spPr>
          <a:xfrm>
            <a:off x="365760" y="822960"/>
            <a:ext cx="4114800" cy="822960"/>
          </a:xfrm>
          <a:prstGeom prst="roundRect">
            <a:avLst>
              <a:gd name="adj" fmla="val 8889"/>
            </a:avLst>
          </a:prstGeom>
          <a:solidFill>
            <a:srgbClr val="FFFFFF"/>
          </a:solidFill>
          <a:ln/>
          <a:effectLst>
            <a:outerShdw blurRad="50800" dist="12700" dir="16200000" algn="bl" rotWithShape="0">
              <a:srgbClr val="000000">
                <a:alpha val="8000"/>
              </a:srgbClr>
            </a:outerShdw>
          </a:effectLst>
        </p:spPr>
      </p:sp>
      <p:sp>
        <p:nvSpPr>
          <p:cNvPr id="5" name="Text 3"/>
          <p:cNvSpPr/>
          <p:nvPr/>
        </p:nvSpPr>
        <p:spPr>
          <a:xfrm>
            <a:off x="502920" y="960120"/>
            <a:ext cx="548640" cy="548640"/>
          </a:xfrm>
          <a:prstGeom prst="rect">
            <a:avLst/>
          </a:prstGeom>
          <a:noFill/>
          <a:ln/>
        </p:spPr>
        <p:txBody>
          <a:bodyPr wrap="square" rtlCol="0" anchor="ctr"/>
          <a:lstStyle/>
          <a:p>
            <a:pPr marL="0" indent="0">
              <a:buNone/>
            </a:pPr>
            <a:r>
              <a:rPr lang="en-US" sz="1800" b="1" dirty="0">
                <a:solidFill>
                  <a:srgbClr val="D4A843"/>
                </a:solidFill>
                <a:latin typeface="Century Gothic" pitchFamily="34" charset="0"/>
                <a:ea typeface="Century Gothic" pitchFamily="34" charset="-122"/>
                <a:cs typeface="Century Gothic" pitchFamily="34" charset="-120"/>
              </a:rPr>
              <a:t>01</a:t>
            </a:r>
            <a:endParaRPr lang="en-US" sz="1800" dirty="0"/>
          </a:p>
        </p:txBody>
      </p:sp>
      <p:sp>
        <p:nvSpPr>
          <p:cNvPr id="6" name="Text 4"/>
          <p:cNvSpPr/>
          <p:nvPr/>
        </p:nvSpPr>
        <p:spPr>
          <a:xfrm>
            <a:off x="1143000" y="932688"/>
            <a:ext cx="3108960"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Background</a:t>
            </a:r>
            <a:endParaRPr lang="en-US" sz="1300" dirty="0"/>
          </a:p>
        </p:txBody>
      </p:sp>
      <p:sp>
        <p:nvSpPr>
          <p:cNvPr id="7" name="Text 5"/>
          <p:cNvSpPr/>
          <p:nvPr/>
        </p:nvSpPr>
        <p:spPr>
          <a:xfrm>
            <a:off x="1143000" y="1261872"/>
            <a:ext cx="310896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Why we chose this problem</a:t>
            </a:r>
            <a:endParaRPr lang="en-US" sz="1100" dirty="0"/>
          </a:p>
        </p:txBody>
      </p:sp>
      <p:sp>
        <p:nvSpPr>
          <p:cNvPr id="8" name="Shape 6"/>
          <p:cNvSpPr/>
          <p:nvPr/>
        </p:nvSpPr>
        <p:spPr>
          <a:xfrm>
            <a:off x="365760" y="1783080"/>
            <a:ext cx="4114800" cy="822960"/>
          </a:xfrm>
          <a:prstGeom prst="roundRect">
            <a:avLst>
              <a:gd name="adj" fmla="val 8889"/>
            </a:avLst>
          </a:prstGeom>
          <a:solidFill>
            <a:srgbClr val="FFFFFF"/>
          </a:solidFill>
          <a:ln/>
          <a:effectLst>
            <a:outerShdw blurRad="50800" dist="12700" dir="16200000" algn="bl" rotWithShape="0">
              <a:srgbClr val="000000">
                <a:alpha val="8000"/>
              </a:srgbClr>
            </a:outerShdw>
          </a:effectLst>
        </p:spPr>
      </p:sp>
      <p:sp>
        <p:nvSpPr>
          <p:cNvPr id="9" name="Text 7"/>
          <p:cNvSpPr/>
          <p:nvPr/>
        </p:nvSpPr>
        <p:spPr>
          <a:xfrm>
            <a:off x="502920" y="1920240"/>
            <a:ext cx="548640" cy="548640"/>
          </a:xfrm>
          <a:prstGeom prst="rect">
            <a:avLst/>
          </a:prstGeom>
          <a:noFill/>
          <a:ln/>
        </p:spPr>
        <p:txBody>
          <a:bodyPr wrap="square" rtlCol="0" anchor="ctr"/>
          <a:lstStyle/>
          <a:p>
            <a:pPr marL="0" indent="0">
              <a:buNone/>
            </a:pPr>
            <a:r>
              <a:rPr lang="en-US" sz="1800" b="1" dirty="0">
                <a:solidFill>
                  <a:srgbClr val="D4A843"/>
                </a:solidFill>
                <a:latin typeface="Century Gothic" pitchFamily="34" charset="0"/>
                <a:ea typeface="Century Gothic" pitchFamily="34" charset="-122"/>
                <a:cs typeface="Century Gothic" pitchFamily="34" charset="-120"/>
              </a:rPr>
              <a:t>02</a:t>
            </a:r>
            <a:endParaRPr lang="en-US" sz="1800" dirty="0"/>
          </a:p>
        </p:txBody>
      </p:sp>
      <p:sp>
        <p:nvSpPr>
          <p:cNvPr id="10" name="Text 8"/>
          <p:cNvSpPr/>
          <p:nvPr/>
        </p:nvSpPr>
        <p:spPr>
          <a:xfrm>
            <a:off x="1143000" y="1892808"/>
            <a:ext cx="3108960"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The Dataset</a:t>
            </a:r>
            <a:endParaRPr lang="en-US" sz="1300" dirty="0"/>
          </a:p>
        </p:txBody>
      </p:sp>
      <p:sp>
        <p:nvSpPr>
          <p:cNvPr id="11" name="Text 9"/>
          <p:cNvSpPr/>
          <p:nvPr/>
        </p:nvSpPr>
        <p:spPr>
          <a:xfrm>
            <a:off x="1143000" y="2221992"/>
            <a:ext cx="310896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Where the data came from and what it looks like</a:t>
            </a:r>
            <a:endParaRPr lang="en-US" sz="1100" dirty="0"/>
          </a:p>
        </p:txBody>
      </p:sp>
      <p:sp>
        <p:nvSpPr>
          <p:cNvPr id="12" name="Shape 10"/>
          <p:cNvSpPr/>
          <p:nvPr/>
        </p:nvSpPr>
        <p:spPr>
          <a:xfrm>
            <a:off x="365760" y="2743200"/>
            <a:ext cx="4114800" cy="822960"/>
          </a:xfrm>
          <a:prstGeom prst="roundRect">
            <a:avLst>
              <a:gd name="adj" fmla="val 8889"/>
            </a:avLst>
          </a:prstGeom>
          <a:solidFill>
            <a:srgbClr val="FFFFFF"/>
          </a:solidFill>
          <a:ln/>
          <a:effectLst>
            <a:outerShdw blurRad="50800" dist="12700" dir="16200000" algn="bl" rotWithShape="0">
              <a:srgbClr val="000000">
                <a:alpha val="8000"/>
              </a:srgbClr>
            </a:outerShdw>
          </a:effectLst>
        </p:spPr>
      </p:sp>
      <p:sp>
        <p:nvSpPr>
          <p:cNvPr id="13" name="Text 11"/>
          <p:cNvSpPr/>
          <p:nvPr/>
        </p:nvSpPr>
        <p:spPr>
          <a:xfrm>
            <a:off x="502920" y="2880360"/>
            <a:ext cx="548640" cy="548640"/>
          </a:xfrm>
          <a:prstGeom prst="rect">
            <a:avLst/>
          </a:prstGeom>
          <a:noFill/>
          <a:ln/>
        </p:spPr>
        <p:txBody>
          <a:bodyPr wrap="square" rtlCol="0" anchor="ctr"/>
          <a:lstStyle/>
          <a:p>
            <a:pPr marL="0" indent="0">
              <a:buNone/>
            </a:pPr>
            <a:r>
              <a:rPr lang="en-US" sz="1800" b="1" dirty="0">
                <a:solidFill>
                  <a:srgbClr val="D4A843"/>
                </a:solidFill>
                <a:latin typeface="Century Gothic" pitchFamily="34" charset="0"/>
                <a:ea typeface="Century Gothic" pitchFamily="34" charset="-122"/>
                <a:cs typeface="Century Gothic" pitchFamily="34" charset="-120"/>
              </a:rPr>
              <a:t>03</a:t>
            </a:r>
            <a:endParaRPr lang="en-US" sz="1800" dirty="0"/>
          </a:p>
        </p:txBody>
      </p:sp>
      <p:sp>
        <p:nvSpPr>
          <p:cNvPr id="14" name="Text 12"/>
          <p:cNvSpPr/>
          <p:nvPr/>
        </p:nvSpPr>
        <p:spPr>
          <a:xfrm>
            <a:off x="1143000" y="2852928"/>
            <a:ext cx="3108960"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Cleaning the Data</a:t>
            </a:r>
            <a:endParaRPr lang="en-US" sz="1300" dirty="0"/>
          </a:p>
        </p:txBody>
      </p:sp>
      <p:sp>
        <p:nvSpPr>
          <p:cNvPr id="15" name="Text 13"/>
          <p:cNvSpPr/>
          <p:nvPr/>
        </p:nvSpPr>
        <p:spPr>
          <a:xfrm>
            <a:off x="1143000" y="3182112"/>
            <a:ext cx="310896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Missing values, duplicates and outliers</a:t>
            </a:r>
            <a:endParaRPr lang="en-US" sz="1100" dirty="0"/>
          </a:p>
        </p:txBody>
      </p:sp>
      <p:sp>
        <p:nvSpPr>
          <p:cNvPr id="16" name="Shape 14"/>
          <p:cNvSpPr/>
          <p:nvPr/>
        </p:nvSpPr>
        <p:spPr>
          <a:xfrm>
            <a:off x="365760" y="3703320"/>
            <a:ext cx="4114800" cy="822960"/>
          </a:xfrm>
          <a:prstGeom prst="roundRect">
            <a:avLst>
              <a:gd name="adj" fmla="val 8889"/>
            </a:avLst>
          </a:prstGeom>
          <a:solidFill>
            <a:srgbClr val="FFFFFF"/>
          </a:solidFill>
          <a:ln/>
          <a:effectLst>
            <a:outerShdw blurRad="50800" dist="12700" dir="16200000" algn="bl" rotWithShape="0">
              <a:srgbClr val="000000">
                <a:alpha val="8000"/>
              </a:srgbClr>
            </a:outerShdw>
          </a:effectLst>
        </p:spPr>
      </p:sp>
      <p:sp>
        <p:nvSpPr>
          <p:cNvPr id="17" name="Text 15"/>
          <p:cNvSpPr/>
          <p:nvPr/>
        </p:nvSpPr>
        <p:spPr>
          <a:xfrm>
            <a:off x="502920" y="3840480"/>
            <a:ext cx="548640" cy="548640"/>
          </a:xfrm>
          <a:prstGeom prst="rect">
            <a:avLst/>
          </a:prstGeom>
          <a:noFill/>
          <a:ln/>
        </p:spPr>
        <p:txBody>
          <a:bodyPr wrap="square" rtlCol="0" anchor="ctr"/>
          <a:lstStyle/>
          <a:p>
            <a:pPr marL="0" indent="0">
              <a:buNone/>
            </a:pPr>
            <a:r>
              <a:rPr lang="en-US" sz="1800" b="1" dirty="0">
                <a:solidFill>
                  <a:srgbClr val="D4A843"/>
                </a:solidFill>
                <a:latin typeface="Century Gothic" pitchFamily="34" charset="0"/>
                <a:ea typeface="Century Gothic" pitchFamily="34" charset="-122"/>
                <a:cs typeface="Century Gothic" pitchFamily="34" charset="-120"/>
              </a:rPr>
              <a:t>04</a:t>
            </a:r>
            <a:endParaRPr lang="en-US" sz="1800" dirty="0"/>
          </a:p>
        </p:txBody>
      </p:sp>
      <p:sp>
        <p:nvSpPr>
          <p:cNvPr id="18" name="Text 16"/>
          <p:cNvSpPr/>
          <p:nvPr/>
        </p:nvSpPr>
        <p:spPr>
          <a:xfrm>
            <a:off x="1143000" y="3813048"/>
            <a:ext cx="3108960"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Changing the Data</a:t>
            </a:r>
            <a:endParaRPr lang="en-US" sz="1300" dirty="0"/>
          </a:p>
        </p:txBody>
      </p:sp>
      <p:sp>
        <p:nvSpPr>
          <p:cNvPr id="19" name="Text 17"/>
          <p:cNvSpPr/>
          <p:nvPr/>
        </p:nvSpPr>
        <p:spPr>
          <a:xfrm>
            <a:off x="1143000" y="4142232"/>
            <a:ext cx="310896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Encoding markets and scaling numbers</a:t>
            </a:r>
            <a:endParaRPr lang="en-US" sz="1100" dirty="0"/>
          </a:p>
        </p:txBody>
      </p:sp>
      <p:sp>
        <p:nvSpPr>
          <p:cNvPr id="20" name="Shape 18"/>
          <p:cNvSpPr/>
          <p:nvPr/>
        </p:nvSpPr>
        <p:spPr>
          <a:xfrm>
            <a:off x="4754880" y="822960"/>
            <a:ext cx="4114800" cy="822960"/>
          </a:xfrm>
          <a:prstGeom prst="roundRect">
            <a:avLst>
              <a:gd name="adj" fmla="val 8889"/>
            </a:avLst>
          </a:prstGeom>
          <a:solidFill>
            <a:srgbClr val="FFFFFF"/>
          </a:solidFill>
          <a:ln/>
          <a:effectLst>
            <a:outerShdw blurRad="50800" dist="12700" dir="16200000" algn="bl" rotWithShape="0">
              <a:srgbClr val="000000">
                <a:alpha val="8000"/>
              </a:srgbClr>
            </a:outerShdw>
          </a:effectLst>
        </p:spPr>
      </p:sp>
      <p:sp>
        <p:nvSpPr>
          <p:cNvPr id="21" name="Text 19"/>
          <p:cNvSpPr/>
          <p:nvPr/>
        </p:nvSpPr>
        <p:spPr>
          <a:xfrm>
            <a:off x="4892040" y="960120"/>
            <a:ext cx="548640" cy="548640"/>
          </a:xfrm>
          <a:prstGeom prst="rect">
            <a:avLst/>
          </a:prstGeom>
          <a:noFill/>
          <a:ln/>
        </p:spPr>
        <p:txBody>
          <a:bodyPr wrap="square" rtlCol="0" anchor="ctr"/>
          <a:lstStyle/>
          <a:p>
            <a:pPr marL="0" indent="0">
              <a:buNone/>
            </a:pPr>
            <a:r>
              <a:rPr lang="en-US" sz="1800" b="1" dirty="0">
                <a:solidFill>
                  <a:srgbClr val="D4A843"/>
                </a:solidFill>
                <a:latin typeface="Century Gothic" pitchFamily="34" charset="0"/>
                <a:ea typeface="Century Gothic" pitchFamily="34" charset="-122"/>
                <a:cs typeface="Century Gothic" pitchFamily="34" charset="-120"/>
              </a:rPr>
              <a:t>05</a:t>
            </a:r>
            <a:endParaRPr lang="en-US" sz="1800" dirty="0"/>
          </a:p>
        </p:txBody>
      </p:sp>
      <p:sp>
        <p:nvSpPr>
          <p:cNvPr id="22" name="Text 20"/>
          <p:cNvSpPr/>
          <p:nvPr/>
        </p:nvSpPr>
        <p:spPr>
          <a:xfrm>
            <a:off x="5532120" y="932688"/>
            <a:ext cx="3108960"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Cutting Features and Split</a:t>
            </a:r>
            <a:endParaRPr lang="en-US" sz="1300" dirty="0"/>
          </a:p>
        </p:txBody>
      </p:sp>
      <p:sp>
        <p:nvSpPr>
          <p:cNvPr id="23" name="Text 21"/>
          <p:cNvSpPr/>
          <p:nvPr/>
        </p:nvSpPr>
        <p:spPr>
          <a:xfrm>
            <a:off x="5532120" y="1261872"/>
            <a:ext cx="310896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What we kept and how we split train and test</a:t>
            </a:r>
            <a:endParaRPr lang="en-US" sz="1100" dirty="0"/>
          </a:p>
        </p:txBody>
      </p:sp>
      <p:sp>
        <p:nvSpPr>
          <p:cNvPr id="24" name="Shape 22"/>
          <p:cNvSpPr/>
          <p:nvPr/>
        </p:nvSpPr>
        <p:spPr>
          <a:xfrm>
            <a:off x="4754880" y="1783080"/>
            <a:ext cx="4114800" cy="822960"/>
          </a:xfrm>
          <a:prstGeom prst="roundRect">
            <a:avLst>
              <a:gd name="adj" fmla="val 8889"/>
            </a:avLst>
          </a:prstGeom>
          <a:solidFill>
            <a:srgbClr val="FFFFFF"/>
          </a:solidFill>
          <a:ln/>
          <a:effectLst>
            <a:outerShdw blurRad="50800" dist="12700" dir="16200000" algn="bl" rotWithShape="0">
              <a:srgbClr val="000000">
                <a:alpha val="8000"/>
              </a:srgbClr>
            </a:outerShdw>
          </a:effectLst>
        </p:spPr>
      </p:sp>
      <p:sp>
        <p:nvSpPr>
          <p:cNvPr id="25" name="Text 23"/>
          <p:cNvSpPr/>
          <p:nvPr/>
        </p:nvSpPr>
        <p:spPr>
          <a:xfrm>
            <a:off x="4892040" y="1920240"/>
            <a:ext cx="548640" cy="548640"/>
          </a:xfrm>
          <a:prstGeom prst="rect">
            <a:avLst/>
          </a:prstGeom>
          <a:noFill/>
          <a:ln/>
        </p:spPr>
        <p:txBody>
          <a:bodyPr wrap="square" rtlCol="0" anchor="ctr"/>
          <a:lstStyle/>
          <a:p>
            <a:pPr marL="0" indent="0">
              <a:buNone/>
            </a:pPr>
            <a:r>
              <a:rPr lang="en-US" sz="1800" b="1" dirty="0">
                <a:solidFill>
                  <a:srgbClr val="D4A843"/>
                </a:solidFill>
                <a:latin typeface="Century Gothic" pitchFamily="34" charset="0"/>
                <a:ea typeface="Century Gothic" pitchFamily="34" charset="-122"/>
                <a:cs typeface="Century Gothic" pitchFamily="34" charset="-120"/>
              </a:rPr>
              <a:t>06</a:t>
            </a:r>
            <a:endParaRPr lang="en-US" sz="1800" dirty="0"/>
          </a:p>
        </p:txBody>
      </p:sp>
      <p:sp>
        <p:nvSpPr>
          <p:cNvPr id="26" name="Text 24"/>
          <p:cNvSpPr/>
          <p:nvPr/>
        </p:nvSpPr>
        <p:spPr>
          <a:xfrm>
            <a:off x="5532120" y="1892808"/>
            <a:ext cx="3108960"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Looking at the Data (EDA)</a:t>
            </a:r>
            <a:endParaRPr lang="en-US" sz="1300" dirty="0"/>
          </a:p>
        </p:txBody>
      </p:sp>
      <p:sp>
        <p:nvSpPr>
          <p:cNvPr id="27" name="Text 25"/>
          <p:cNvSpPr/>
          <p:nvPr/>
        </p:nvSpPr>
        <p:spPr>
          <a:xfrm>
            <a:off x="5532120" y="2221992"/>
            <a:ext cx="310896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Charts and what we noticed</a:t>
            </a:r>
            <a:endParaRPr lang="en-US" sz="1100" dirty="0"/>
          </a:p>
        </p:txBody>
      </p:sp>
      <p:sp>
        <p:nvSpPr>
          <p:cNvPr id="28" name="Shape 26"/>
          <p:cNvSpPr/>
          <p:nvPr/>
        </p:nvSpPr>
        <p:spPr>
          <a:xfrm>
            <a:off x="4754880" y="2743200"/>
            <a:ext cx="4114800" cy="822960"/>
          </a:xfrm>
          <a:prstGeom prst="roundRect">
            <a:avLst>
              <a:gd name="adj" fmla="val 8889"/>
            </a:avLst>
          </a:prstGeom>
          <a:solidFill>
            <a:srgbClr val="FFFFFF"/>
          </a:solidFill>
          <a:ln/>
          <a:effectLst>
            <a:outerShdw blurRad="50800" dist="12700" dir="16200000" algn="bl" rotWithShape="0">
              <a:srgbClr val="000000">
                <a:alpha val="8000"/>
              </a:srgbClr>
            </a:outerShdw>
          </a:effectLst>
        </p:spPr>
      </p:sp>
      <p:sp>
        <p:nvSpPr>
          <p:cNvPr id="29" name="Text 27"/>
          <p:cNvSpPr/>
          <p:nvPr/>
        </p:nvSpPr>
        <p:spPr>
          <a:xfrm>
            <a:off x="4892040" y="2880360"/>
            <a:ext cx="548640" cy="548640"/>
          </a:xfrm>
          <a:prstGeom prst="rect">
            <a:avLst/>
          </a:prstGeom>
          <a:noFill/>
          <a:ln/>
        </p:spPr>
        <p:txBody>
          <a:bodyPr wrap="square" rtlCol="0" anchor="ctr"/>
          <a:lstStyle/>
          <a:p>
            <a:pPr marL="0" indent="0">
              <a:buNone/>
            </a:pPr>
            <a:r>
              <a:rPr lang="en-US" sz="1800" b="1" dirty="0">
                <a:solidFill>
                  <a:srgbClr val="D4A843"/>
                </a:solidFill>
                <a:latin typeface="Century Gothic" pitchFamily="34" charset="0"/>
                <a:ea typeface="Century Gothic" pitchFamily="34" charset="-122"/>
                <a:cs typeface="Century Gothic" pitchFamily="34" charset="-120"/>
              </a:rPr>
              <a:t>07</a:t>
            </a:r>
            <a:endParaRPr lang="en-US" sz="1800" dirty="0"/>
          </a:p>
        </p:txBody>
      </p:sp>
      <p:sp>
        <p:nvSpPr>
          <p:cNvPr id="30" name="Text 28"/>
          <p:cNvSpPr/>
          <p:nvPr/>
        </p:nvSpPr>
        <p:spPr>
          <a:xfrm>
            <a:off x="5532120" y="2852928"/>
            <a:ext cx="3108960"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What We Found</a:t>
            </a:r>
            <a:endParaRPr lang="en-US" sz="1300" dirty="0"/>
          </a:p>
        </p:txBody>
      </p:sp>
      <p:sp>
        <p:nvSpPr>
          <p:cNvPr id="31" name="Text 29"/>
          <p:cNvSpPr/>
          <p:nvPr/>
        </p:nvSpPr>
        <p:spPr>
          <a:xfrm>
            <a:off x="5532120" y="3182112"/>
            <a:ext cx="310896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Main points and what we will do next</a:t>
            </a:r>
            <a:endParaRPr lang="en-US" sz="1100" dirty="0"/>
          </a:p>
        </p:txBody>
      </p:sp>
      <p:sp>
        <p:nvSpPr>
          <p:cNvPr id="32" name="Shape 30"/>
          <p:cNvSpPr/>
          <p:nvPr/>
        </p:nvSpPr>
        <p:spPr>
          <a:xfrm>
            <a:off x="4754880" y="3703320"/>
            <a:ext cx="4114800" cy="822960"/>
          </a:xfrm>
          <a:prstGeom prst="roundRect">
            <a:avLst>
              <a:gd name="adj" fmla="val 8889"/>
            </a:avLst>
          </a:prstGeom>
          <a:solidFill>
            <a:srgbClr val="FFFFFF"/>
          </a:solidFill>
          <a:ln/>
          <a:effectLst>
            <a:outerShdw blurRad="50800" dist="12700" dir="16200000" algn="bl" rotWithShape="0">
              <a:srgbClr val="000000">
                <a:alpha val="8000"/>
              </a:srgbClr>
            </a:outerShdw>
          </a:effectLst>
        </p:spPr>
      </p:sp>
      <p:sp>
        <p:nvSpPr>
          <p:cNvPr id="33" name="Text 31"/>
          <p:cNvSpPr/>
          <p:nvPr/>
        </p:nvSpPr>
        <p:spPr>
          <a:xfrm>
            <a:off x="4892040" y="3840480"/>
            <a:ext cx="548640" cy="548640"/>
          </a:xfrm>
          <a:prstGeom prst="rect">
            <a:avLst/>
          </a:prstGeom>
          <a:noFill/>
          <a:ln/>
        </p:spPr>
        <p:txBody>
          <a:bodyPr wrap="square" rtlCol="0" anchor="ctr"/>
          <a:lstStyle/>
          <a:p>
            <a:pPr marL="0" indent="0">
              <a:buNone/>
            </a:pPr>
            <a:r>
              <a:rPr lang="en-US" sz="1800" b="1" dirty="0">
                <a:solidFill>
                  <a:srgbClr val="D4A843"/>
                </a:solidFill>
                <a:latin typeface="Century Gothic" pitchFamily="34" charset="0"/>
                <a:ea typeface="Century Gothic" pitchFamily="34" charset="-122"/>
                <a:cs typeface="Century Gothic" pitchFamily="34" charset="-120"/>
              </a:rPr>
              <a:t>08</a:t>
            </a:r>
            <a:endParaRPr lang="en-US" sz="1800" dirty="0"/>
          </a:p>
        </p:txBody>
      </p:sp>
      <p:sp>
        <p:nvSpPr>
          <p:cNvPr id="34" name="Text 32"/>
          <p:cNvSpPr/>
          <p:nvPr/>
        </p:nvSpPr>
        <p:spPr>
          <a:xfrm>
            <a:off x="5532120" y="3813048"/>
            <a:ext cx="3108960"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References</a:t>
            </a:r>
            <a:endParaRPr lang="en-US" sz="1300" dirty="0"/>
          </a:p>
        </p:txBody>
      </p:sp>
      <p:sp>
        <p:nvSpPr>
          <p:cNvPr id="35" name="Text 33"/>
          <p:cNvSpPr/>
          <p:nvPr/>
        </p:nvSpPr>
        <p:spPr>
          <a:xfrm>
            <a:off x="5532120" y="4142232"/>
            <a:ext cx="310896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Books and papers we used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82880"/>
            <a:ext cx="8229600" cy="365760"/>
          </a:xfrm>
          <a:prstGeom prst="rect">
            <a:avLst/>
          </a:prstGeom>
          <a:noFill/>
          <a:ln/>
        </p:spPr>
        <p:txBody>
          <a:bodyPr wrap="square" rtlCol="0" anchor="ctr"/>
          <a:lstStyle/>
          <a:p>
            <a:pPr marL="0" indent="0">
              <a:buNone/>
            </a:pPr>
            <a:r>
              <a:rPr lang="en-US" sz="2000" b="1" dirty="0">
                <a:solidFill>
                  <a:srgbClr val="1B2A4A"/>
                </a:solidFill>
                <a:latin typeface="Century Gothic" pitchFamily="34" charset="0"/>
                <a:ea typeface="Century Gothic" pitchFamily="34" charset="-122"/>
                <a:cs typeface="Century Gothic" pitchFamily="34" charset="-120"/>
              </a:rPr>
              <a:t>BACKGROUND</a:t>
            </a:r>
            <a:endParaRPr lang="en-US" sz="2000" dirty="0"/>
          </a:p>
        </p:txBody>
      </p:sp>
      <p:sp>
        <p:nvSpPr>
          <p:cNvPr id="4" name="Shape 2"/>
          <p:cNvSpPr/>
          <p:nvPr/>
        </p:nvSpPr>
        <p:spPr>
          <a:xfrm>
            <a:off x="365760" y="685800"/>
            <a:ext cx="8412480" cy="1188720"/>
          </a:xfrm>
          <a:prstGeom prst="roundRect">
            <a:avLst>
              <a:gd name="adj" fmla="val 6154"/>
            </a:avLst>
          </a:prstGeom>
          <a:solidFill>
            <a:srgbClr val="E6F4F5"/>
          </a:solidFill>
          <a:ln/>
        </p:spPr>
      </p:sp>
      <p:sp>
        <p:nvSpPr>
          <p:cNvPr id="5" name="Text 3"/>
          <p:cNvSpPr/>
          <p:nvPr/>
        </p:nvSpPr>
        <p:spPr>
          <a:xfrm>
            <a:off x="548640" y="822960"/>
            <a:ext cx="8046720" cy="960120"/>
          </a:xfrm>
          <a:prstGeom prst="rect">
            <a:avLst/>
          </a:prstGeom>
          <a:noFill/>
          <a:ln/>
        </p:spPr>
        <p:txBody>
          <a:bodyPr wrap="square" rtlCol="0" anchor="ctr"/>
          <a:lstStyle/>
          <a:p>
            <a:pPr marL="0" indent="0">
              <a:buNone/>
            </a:pPr>
            <a:r>
              <a:rPr lang="en-US" sz="1400" dirty="0">
                <a:solidFill>
                  <a:srgbClr val="2C2C2C"/>
                </a:solidFill>
                <a:latin typeface="Calibri" pitchFamily="34" charset="0"/>
                <a:ea typeface="Calibri" pitchFamily="34" charset="-122"/>
                <a:cs typeface="Calibri" pitchFamily="34" charset="-120"/>
              </a:rPr>
              <a:t>Food prices matter a lot in Uganda. Maize and beans are common foods that most families buy. When the prices go up fast, people, traders and even aid groups feel the pain. We wanted a model that can guess future prices using old market data so planning becomes easier.</a:t>
            </a:r>
            <a:endParaRPr lang="en-US" sz="1400" dirty="0"/>
          </a:p>
        </p:txBody>
      </p:sp>
      <p:sp>
        <p:nvSpPr>
          <p:cNvPr id="6" name="Shape 4"/>
          <p:cNvSpPr/>
          <p:nvPr/>
        </p:nvSpPr>
        <p:spPr>
          <a:xfrm>
            <a:off x="365760" y="2103120"/>
            <a:ext cx="2743200" cy="2560320"/>
          </a:xfrm>
          <a:prstGeom prst="roundRect">
            <a:avLst>
              <a:gd name="adj" fmla="val 3571"/>
            </a:avLst>
          </a:prstGeom>
          <a:solidFill>
            <a:srgbClr val="FFFFFF"/>
          </a:solidFill>
          <a:ln/>
          <a:effectLst>
            <a:outerShdw blurRad="63500" dist="12700" dir="16200000" algn="bl" rotWithShape="0">
              <a:srgbClr val="000000">
                <a:alpha val="10000"/>
              </a:srgbClr>
            </a:outerShdw>
          </a:effectLst>
        </p:spPr>
      </p:sp>
      <p:sp>
        <p:nvSpPr>
          <p:cNvPr id="8" name="Text 6"/>
          <p:cNvSpPr/>
          <p:nvPr/>
        </p:nvSpPr>
        <p:spPr>
          <a:xfrm>
            <a:off x="502920" y="2331720"/>
            <a:ext cx="2468880" cy="411480"/>
          </a:xfrm>
          <a:prstGeom prst="rect">
            <a:avLst/>
          </a:prstGeom>
          <a:noFill/>
          <a:ln/>
        </p:spPr>
        <p:txBody>
          <a:bodyPr wrap="square" rtlCol="0" anchor="ctr"/>
          <a:lstStyle/>
          <a:p>
            <a:pPr marL="0" indent="0">
              <a:buNone/>
            </a:pPr>
            <a:r>
              <a:rPr lang="en-US" sz="1300" b="1" dirty="0">
                <a:solidFill>
                  <a:srgbClr val="1B2A4A"/>
                </a:solidFill>
                <a:latin typeface="Century Gothic" pitchFamily="34" charset="0"/>
                <a:ea typeface="Century Gothic" pitchFamily="34" charset="-122"/>
                <a:cs typeface="Century Gothic" pitchFamily="34" charset="-120"/>
              </a:rPr>
              <a:t>What we want to predict</a:t>
            </a:r>
            <a:endParaRPr lang="en-US" sz="1300" dirty="0"/>
          </a:p>
        </p:txBody>
      </p:sp>
      <p:sp>
        <p:nvSpPr>
          <p:cNvPr id="9" name="Text 7"/>
          <p:cNvSpPr/>
          <p:nvPr/>
        </p:nvSpPr>
        <p:spPr>
          <a:xfrm>
            <a:off x="502920" y="2834640"/>
            <a:ext cx="2468880" cy="1645920"/>
          </a:xfrm>
          <a:prstGeom prst="rect">
            <a:avLst/>
          </a:prstGeom>
          <a:noFill/>
          <a:ln/>
        </p:spPr>
        <p:txBody>
          <a:bodyPr wrap="square" rtlCol="0" anchor="ctr"/>
          <a:lstStyle/>
          <a:p>
            <a:pPr marL="0" indent="0">
              <a:buNone/>
            </a:pPr>
            <a:r>
              <a:rPr lang="en-US" sz="1200" dirty="0">
                <a:solidFill>
                  <a:srgbClr val="2C2C2C"/>
                </a:solidFill>
                <a:latin typeface="Calibri" pitchFamily="34" charset="0"/>
                <a:ea typeface="Calibri" pitchFamily="34" charset="-122"/>
                <a:cs typeface="Calibri" pitchFamily="34" charset="-120"/>
              </a:rPr>
              <a:t>The monthly price of maize (c_maize) and the monthly price of beans (c_beans). Both are in Uganda shillings per kilogram.</a:t>
            </a:r>
            <a:endParaRPr lang="en-US" sz="1200" dirty="0"/>
          </a:p>
        </p:txBody>
      </p:sp>
      <p:sp>
        <p:nvSpPr>
          <p:cNvPr id="10" name="Shape 8"/>
          <p:cNvSpPr/>
          <p:nvPr/>
        </p:nvSpPr>
        <p:spPr>
          <a:xfrm>
            <a:off x="3246120" y="2103120"/>
            <a:ext cx="2743200" cy="2560320"/>
          </a:xfrm>
          <a:prstGeom prst="roundRect">
            <a:avLst>
              <a:gd name="adj" fmla="val 3571"/>
            </a:avLst>
          </a:prstGeom>
          <a:solidFill>
            <a:srgbClr val="FFFFFF"/>
          </a:solidFill>
          <a:ln/>
          <a:effectLst>
            <a:outerShdw blurRad="63500" dist="12700" dir="16200000" algn="bl" rotWithShape="0">
              <a:srgbClr val="000000">
                <a:alpha val="10000"/>
              </a:srgbClr>
            </a:outerShdw>
          </a:effectLst>
        </p:spPr>
      </p:sp>
      <p:sp>
        <p:nvSpPr>
          <p:cNvPr id="12" name="Text 10"/>
          <p:cNvSpPr/>
          <p:nvPr/>
        </p:nvSpPr>
        <p:spPr>
          <a:xfrm>
            <a:off x="3383280" y="2331720"/>
            <a:ext cx="2468880" cy="411480"/>
          </a:xfrm>
          <a:prstGeom prst="rect">
            <a:avLst/>
          </a:prstGeom>
          <a:noFill/>
          <a:ln/>
        </p:spPr>
        <p:txBody>
          <a:bodyPr wrap="square" rtlCol="0" anchor="ctr"/>
          <a:lstStyle/>
          <a:p>
            <a:pPr marL="0" indent="0">
              <a:buNone/>
            </a:pPr>
            <a:r>
              <a:rPr lang="en-US" sz="1300" b="1" dirty="0">
                <a:solidFill>
                  <a:srgbClr val="1B2A4A"/>
                </a:solidFill>
                <a:latin typeface="Century Gothic" pitchFamily="34" charset="0"/>
                <a:ea typeface="Century Gothic" pitchFamily="34" charset="-122"/>
                <a:cs typeface="Century Gothic" pitchFamily="34" charset="-120"/>
              </a:rPr>
              <a:t>Type of problem</a:t>
            </a:r>
            <a:endParaRPr lang="en-US" sz="1300" dirty="0"/>
          </a:p>
        </p:txBody>
      </p:sp>
      <p:sp>
        <p:nvSpPr>
          <p:cNvPr id="13" name="Text 11"/>
          <p:cNvSpPr/>
          <p:nvPr/>
        </p:nvSpPr>
        <p:spPr>
          <a:xfrm>
            <a:off x="3383280" y="2834640"/>
            <a:ext cx="2468880" cy="1645920"/>
          </a:xfrm>
          <a:prstGeom prst="rect">
            <a:avLst/>
          </a:prstGeom>
          <a:noFill/>
          <a:ln/>
        </p:spPr>
        <p:txBody>
          <a:bodyPr wrap="square" rtlCol="0" anchor="ctr"/>
          <a:lstStyle/>
          <a:p>
            <a:pPr marL="0" indent="0">
              <a:buNone/>
            </a:pPr>
            <a:r>
              <a:rPr lang="en-US" sz="1200" dirty="0">
                <a:solidFill>
                  <a:srgbClr val="2C2C2C"/>
                </a:solidFill>
                <a:latin typeface="Calibri" pitchFamily="34" charset="0"/>
                <a:ea typeface="Calibri" pitchFamily="34" charset="-122"/>
                <a:cs typeface="Calibri" pitchFamily="34" charset="-120"/>
              </a:rPr>
              <a:t>This is a regression problem. We use month, year, market name, other food prices and some inflation numbers to help the model.</a:t>
            </a:r>
            <a:endParaRPr lang="en-US" sz="1200" dirty="0"/>
          </a:p>
        </p:txBody>
      </p:sp>
      <p:sp>
        <p:nvSpPr>
          <p:cNvPr id="14" name="Shape 12"/>
          <p:cNvSpPr/>
          <p:nvPr/>
        </p:nvSpPr>
        <p:spPr>
          <a:xfrm>
            <a:off x="6126480" y="2103120"/>
            <a:ext cx="2743200" cy="2560320"/>
          </a:xfrm>
          <a:prstGeom prst="roundRect">
            <a:avLst>
              <a:gd name="adj" fmla="val 3571"/>
            </a:avLst>
          </a:prstGeom>
          <a:solidFill>
            <a:srgbClr val="FFFFFF"/>
          </a:solidFill>
          <a:ln/>
          <a:effectLst>
            <a:outerShdw blurRad="63500" dist="12700" dir="16200000" algn="bl" rotWithShape="0">
              <a:srgbClr val="000000">
                <a:alpha val="10000"/>
              </a:srgbClr>
            </a:outerShdw>
          </a:effectLst>
        </p:spPr>
      </p:sp>
      <p:sp>
        <p:nvSpPr>
          <p:cNvPr id="16" name="Text 14"/>
          <p:cNvSpPr/>
          <p:nvPr/>
        </p:nvSpPr>
        <p:spPr>
          <a:xfrm>
            <a:off x="6263640" y="2331720"/>
            <a:ext cx="2468880" cy="411480"/>
          </a:xfrm>
          <a:prstGeom prst="rect">
            <a:avLst/>
          </a:prstGeom>
          <a:noFill/>
          <a:ln/>
        </p:spPr>
        <p:txBody>
          <a:bodyPr wrap="square" rtlCol="0" anchor="ctr"/>
          <a:lstStyle/>
          <a:p>
            <a:pPr marL="0" indent="0">
              <a:buNone/>
            </a:pPr>
            <a:r>
              <a:rPr lang="en-US" sz="1300" b="1" dirty="0">
                <a:solidFill>
                  <a:srgbClr val="1B2A4A"/>
                </a:solidFill>
                <a:latin typeface="Century Gothic" pitchFamily="34" charset="0"/>
                <a:ea typeface="Century Gothic" pitchFamily="34" charset="-122"/>
                <a:cs typeface="Century Gothic" pitchFamily="34" charset="-120"/>
              </a:rPr>
              <a:t>How we worked</a:t>
            </a:r>
            <a:endParaRPr lang="en-US" sz="1300" dirty="0"/>
          </a:p>
        </p:txBody>
      </p:sp>
      <p:sp>
        <p:nvSpPr>
          <p:cNvPr id="17" name="Text 15"/>
          <p:cNvSpPr/>
          <p:nvPr/>
        </p:nvSpPr>
        <p:spPr>
          <a:xfrm>
            <a:off x="6263640" y="2834640"/>
            <a:ext cx="2468880" cy="1645920"/>
          </a:xfrm>
          <a:prstGeom prst="rect">
            <a:avLst/>
          </a:prstGeom>
          <a:noFill/>
          <a:ln/>
        </p:spPr>
        <p:txBody>
          <a:bodyPr wrap="square" rtlCol="0" anchor="ctr"/>
          <a:lstStyle/>
          <a:p>
            <a:pPr marL="0" indent="0">
              <a:buNone/>
            </a:pPr>
            <a:r>
              <a:rPr lang="en-US" sz="1200" dirty="0">
                <a:solidFill>
                  <a:srgbClr val="2C2C2C"/>
                </a:solidFill>
                <a:latin typeface="Calibri" pitchFamily="34" charset="0"/>
                <a:ea typeface="Calibri" pitchFamily="34" charset="-122"/>
                <a:cs typeface="Calibri" pitchFamily="34" charset="-120"/>
              </a:rPr>
              <a:t>We followed the normal steps of cleaning, joining, changing and reducing data. These steps sit inside the bigger Knowledge Discovery process [1], [2].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82880"/>
            <a:ext cx="8229600" cy="320040"/>
          </a:xfrm>
          <a:prstGeom prst="rect">
            <a:avLst/>
          </a:prstGeom>
          <a:noFill/>
          <a:ln/>
        </p:spPr>
        <p:txBody>
          <a:bodyPr wrap="square" rtlCol="0" anchor="ctr"/>
          <a:lstStyle/>
          <a:p>
            <a:pPr marL="0" indent="0">
              <a:buNone/>
            </a:pPr>
            <a:r>
              <a:rPr lang="en-US" sz="2000" b="1" dirty="0">
                <a:solidFill>
                  <a:srgbClr val="1B2A4A"/>
                </a:solidFill>
                <a:latin typeface="Century Gothic" pitchFamily="34" charset="0"/>
                <a:ea typeface="Century Gothic" pitchFamily="34" charset="-122"/>
                <a:cs typeface="Century Gothic" pitchFamily="34" charset="-120"/>
              </a:rPr>
              <a:t>THE DATASET</a:t>
            </a:r>
            <a:endParaRPr lang="en-US" sz="2000" dirty="0"/>
          </a:p>
        </p:txBody>
      </p:sp>
      <p:sp>
        <p:nvSpPr>
          <p:cNvPr id="4" name="Text 2"/>
          <p:cNvSpPr/>
          <p:nvPr/>
        </p:nvSpPr>
        <p:spPr>
          <a:xfrm>
            <a:off x="457200" y="594360"/>
            <a:ext cx="8229600" cy="777240"/>
          </a:xfrm>
          <a:prstGeom prst="rect">
            <a:avLst/>
          </a:prstGeom>
          <a:noFill/>
          <a:ln/>
        </p:spPr>
        <p:txBody>
          <a:bodyPr wrap="square" rtlCol="0" anchor="ctr"/>
          <a:lstStyle/>
          <a:p>
            <a:pPr marL="0" indent="0">
              <a:buNone/>
            </a:pPr>
            <a:r>
              <a:rPr lang="en-US" sz="1300" dirty="0">
                <a:solidFill>
                  <a:srgbClr val="2C2C2C"/>
                </a:solidFill>
                <a:latin typeface="Calibri" pitchFamily="34" charset="0"/>
                <a:ea typeface="Calibri" pitchFamily="34" charset="-122"/>
                <a:cs typeface="Calibri" pitchFamily="34" charset="-120"/>
              </a:rPr>
              <a:t>We used the Uganda RealTime Food Prices data from the World Bank. The prices come from WFP and FAO. Some missing market values were filled using machine learning estimates. The completed columns start with the letter c_ [3].</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92001739"/>
              </p:ext>
            </p:extLst>
          </p:nvPr>
        </p:nvGraphicFramePr>
        <p:xfrm>
          <a:off x="731520" y="1508760"/>
          <a:ext cx="7680960" cy="3337560"/>
        </p:xfrm>
        <a:graphic>
          <a:graphicData uri="http://schemas.openxmlformats.org/drawingml/2006/table">
            <a:tbl>
              <a:tblPr/>
              <a:tblGrid>
                <a:gridCol w="274320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tblGrid>
              <a:tr h="55626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Item</a:t>
                      </a:r>
                      <a:endParaRPr lang="en-US" sz="1300" dirty="0">
                        <a:latin typeface="Calibri" charset="0"/>
                        <a:ea typeface="Calibri" charset="0"/>
                        <a:cs typeface="Calibri" charset="0"/>
                      </a:endParaRPr>
                    </a:p>
                  </a:txBody>
                  <a:tcPr anchor="ctr">
                    <a:lnL w="6350" cap="flat" cmpd="sng" algn="ctr">
                      <a:solidFill>
                        <a:srgbClr val="E8E4DD"/>
                      </a:solidFill>
                      <a:prstDash val="solid"/>
                      <a:round/>
                      <a:headEnd type="none" w="med" len="med"/>
                      <a:tailEnd type="none" w="med" len="med"/>
                    </a:lnL>
                    <a:lnR w="6350" cap="flat" cmpd="sng" algn="ctr">
                      <a:solidFill>
                        <a:srgbClr val="E8E4DD"/>
                      </a:solidFill>
                      <a:prstDash val="solid"/>
                      <a:round/>
                      <a:headEnd type="none" w="med" len="med"/>
                      <a:tailEnd type="none" w="med" len="med"/>
                    </a:lnR>
                    <a:lnT w="6350" cap="flat" cmpd="sng" algn="ctr">
                      <a:solidFill>
                        <a:srgbClr val="E8E4DD"/>
                      </a:solidFill>
                      <a:prstDash val="solid"/>
                      <a:round/>
                      <a:headEnd type="none" w="med" len="med"/>
                      <a:tailEnd type="none" w="med" len="med"/>
                    </a:lnT>
                    <a:lnB w="6350" cap="flat" cmpd="sng" algn="ctr">
                      <a:solidFill>
                        <a:srgbClr val="E8E4DD"/>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anchor="ctr">
                    <a:lnL w="6350" cap="flat" cmpd="sng" algn="ctr">
                      <a:solidFill>
                        <a:srgbClr val="E8E4DD"/>
                      </a:solidFill>
                      <a:prstDash val="solid"/>
                      <a:round/>
                      <a:headEnd type="none" w="med" len="med"/>
                      <a:tailEnd type="none" w="med" len="med"/>
                    </a:lnL>
                    <a:lnR w="6350" cap="flat" cmpd="sng" algn="ctr">
                      <a:solidFill>
                        <a:srgbClr val="E8E4DD"/>
                      </a:solidFill>
                      <a:prstDash val="solid"/>
                      <a:round/>
                      <a:headEnd type="none" w="med" len="med"/>
                      <a:tailEnd type="none" w="med" len="med"/>
                    </a:lnR>
                    <a:lnT w="6350" cap="flat" cmpd="sng" algn="ctr">
                      <a:solidFill>
                        <a:srgbClr val="E8E4DD"/>
                      </a:solidFill>
                      <a:prstDash val="solid"/>
                      <a:round/>
                      <a:headEnd type="none" w="med" len="med"/>
                      <a:tailEnd type="none" w="med" len="med"/>
                    </a:lnT>
                    <a:lnB w="6350" cap="flat" cmpd="sng" algn="ctr">
                      <a:solidFill>
                        <a:srgbClr val="E8E4DD"/>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56260">
                <a:tc>
                  <a:txBody>
                    <a:bodyPr/>
                    <a:lstStyle/>
                    <a:p>
                      <a:pPr marL="0" indent="0" algn="l">
                        <a:buNone/>
                      </a:pPr>
                      <a:r>
                        <a:rPr lang="en-US" sz="1300" dirty="0">
                          <a:solidFill>
                            <a:srgbClr val="2C2C2C"/>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anchor="ctr">
                    <a:lnL w="6350" cap="flat" cmpd="sng" algn="ctr">
                      <a:solidFill>
                        <a:srgbClr val="E8E4DD"/>
                      </a:solidFill>
                      <a:prstDash val="solid"/>
                      <a:round/>
                      <a:headEnd type="none" w="med" len="med"/>
                      <a:tailEnd type="none" w="med" len="med"/>
                    </a:lnL>
                    <a:lnR w="6350" cap="flat" cmpd="sng" algn="ctr">
                      <a:solidFill>
                        <a:srgbClr val="E8E4DD"/>
                      </a:solidFill>
                      <a:prstDash val="solid"/>
                      <a:round/>
                      <a:headEnd type="none" w="med" len="med"/>
                      <a:tailEnd type="none" w="med" len="med"/>
                    </a:lnR>
                    <a:lnT w="6350" cap="flat" cmpd="sng" algn="ctr">
                      <a:solidFill>
                        <a:srgbClr val="E8E4DD"/>
                      </a:solidFill>
                      <a:prstDash val="solid"/>
                      <a:round/>
                      <a:headEnd type="none" w="med" len="med"/>
                      <a:tailEnd type="none" w="med" len="med"/>
                    </a:lnT>
                    <a:lnB w="6350" cap="flat" cmpd="sng" algn="ctr">
                      <a:solidFill>
                        <a:srgbClr val="E8E4DD"/>
                      </a:solidFill>
                      <a:prstDash val="solid"/>
                      <a:round/>
                      <a:headEnd type="none" w="med" len="med"/>
                      <a:tailEnd type="none" w="med" len="med"/>
                    </a:lnB>
                  </a:tcPr>
                </a:tc>
                <a:tc>
                  <a:txBody>
                    <a:bodyPr/>
                    <a:lstStyle/>
                    <a:p>
                      <a:pPr marL="0" indent="0" algn="l">
                        <a:buNone/>
                      </a:pPr>
                      <a:r>
                        <a:rPr lang="en-US" sz="1300" dirty="0">
                          <a:solidFill>
                            <a:srgbClr val="2C2C2C"/>
                          </a:solidFill>
                          <a:latin typeface="Calibri" pitchFamily="34" charset="0"/>
                          <a:ea typeface="Calibri" pitchFamily="34" charset="-122"/>
                          <a:cs typeface="Calibri" pitchFamily="34" charset="-120"/>
                        </a:rPr>
                        <a:t>World Bank RTFP (WFP / FAO)</a:t>
                      </a:r>
                      <a:endParaRPr lang="en-US" sz="1300" dirty="0">
                        <a:latin typeface="Calibri" charset="0"/>
                        <a:ea typeface="Calibri" charset="0"/>
                        <a:cs typeface="Calibri" charset="0"/>
                      </a:endParaRPr>
                    </a:p>
                  </a:txBody>
                  <a:tcPr anchor="ctr">
                    <a:lnL w="6350" cap="flat" cmpd="sng" algn="ctr">
                      <a:solidFill>
                        <a:srgbClr val="E8E4DD"/>
                      </a:solidFill>
                      <a:prstDash val="solid"/>
                      <a:round/>
                      <a:headEnd type="none" w="med" len="med"/>
                      <a:tailEnd type="none" w="med" len="med"/>
                    </a:lnL>
                    <a:lnR w="6350" cap="flat" cmpd="sng" algn="ctr">
                      <a:solidFill>
                        <a:srgbClr val="E8E4DD"/>
                      </a:solidFill>
                      <a:prstDash val="solid"/>
                      <a:round/>
                      <a:headEnd type="none" w="med" len="med"/>
                      <a:tailEnd type="none" w="med" len="med"/>
                    </a:lnR>
                    <a:lnT w="6350" cap="flat" cmpd="sng" algn="ctr">
                      <a:solidFill>
                        <a:srgbClr val="E8E4DD"/>
                      </a:solidFill>
                      <a:prstDash val="solid"/>
                      <a:round/>
                      <a:headEnd type="none" w="med" len="med"/>
                      <a:tailEnd type="none" w="med" len="med"/>
                    </a:lnT>
                    <a:lnB w="6350" cap="flat" cmpd="sng" algn="ctr">
                      <a:solidFill>
                        <a:srgbClr val="E8E4DD"/>
                      </a:solidFill>
                      <a:prstDash val="solid"/>
                      <a:round/>
                      <a:headEnd type="none" w="med" len="med"/>
                      <a:tailEnd type="none" w="med" len="med"/>
                    </a:lnB>
                  </a:tcPr>
                </a:tc>
                <a:extLst>
                  <a:ext uri="{0D108BD9-81ED-4DB2-BD59-A6C34878D82A}">
                    <a16:rowId xmlns:a16="http://schemas.microsoft.com/office/drawing/2014/main" val="10001"/>
                  </a:ext>
                </a:extLst>
              </a:tr>
              <a:tr h="556260">
                <a:tc>
                  <a:txBody>
                    <a:bodyPr/>
                    <a:lstStyle/>
                    <a:p>
                      <a:pPr marL="0" indent="0" algn="l">
                        <a:buNone/>
                      </a:pPr>
                      <a:r>
                        <a:rPr lang="en-US" sz="1300" dirty="0">
                          <a:solidFill>
                            <a:srgbClr val="2C2C2C"/>
                          </a:solidFill>
                          <a:latin typeface="Calibri" pitchFamily="34" charset="0"/>
                          <a:ea typeface="Calibri" pitchFamily="34" charset="-122"/>
                          <a:cs typeface="Calibri" pitchFamily="34" charset="-120"/>
                        </a:rPr>
                        <a:t>Markets we kept</a:t>
                      </a:r>
                      <a:endParaRPr lang="en-US" sz="1300" dirty="0">
                        <a:latin typeface="Calibri" charset="0"/>
                        <a:ea typeface="Calibri" charset="0"/>
                        <a:cs typeface="Calibri" charset="0"/>
                      </a:endParaRPr>
                    </a:p>
                  </a:txBody>
                  <a:tcPr anchor="ctr">
                    <a:lnL w="6350" cap="flat" cmpd="sng" algn="ctr">
                      <a:solidFill>
                        <a:srgbClr val="E8E4DD"/>
                      </a:solidFill>
                      <a:prstDash val="solid"/>
                      <a:round/>
                      <a:headEnd type="none" w="med" len="med"/>
                      <a:tailEnd type="none" w="med" len="med"/>
                    </a:lnL>
                    <a:lnR w="6350" cap="flat" cmpd="sng" algn="ctr">
                      <a:solidFill>
                        <a:srgbClr val="E8E4DD"/>
                      </a:solidFill>
                      <a:prstDash val="solid"/>
                      <a:round/>
                      <a:headEnd type="none" w="med" len="med"/>
                      <a:tailEnd type="none" w="med" len="med"/>
                    </a:lnR>
                    <a:lnT w="6350" cap="flat" cmpd="sng" algn="ctr">
                      <a:solidFill>
                        <a:srgbClr val="E8E4DD"/>
                      </a:solidFill>
                      <a:prstDash val="solid"/>
                      <a:round/>
                      <a:headEnd type="none" w="med" len="med"/>
                      <a:tailEnd type="none" w="med" len="med"/>
                    </a:lnT>
                    <a:lnB w="6350" cap="flat" cmpd="sng" algn="ctr">
                      <a:solidFill>
                        <a:srgbClr val="E8E4DD"/>
                      </a:solidFill>
                      <a:prstDash val="solid"/>
                      <a:round/>
                      <a:headEnd type="none" w="med" len="med"/>
                      <a:tailEnd type="none" w="med" len="med"/>
                    </a:lnB>
                  </a:tcPr>
                </a:tc>
                <a:tc>
                  <a:txBody>
                    <a:bodyPr/>
                    <a:lstStyle/>
                    <a:p>
                      <a:pPr marL="0" indent="0" algn="l">
                        <a:buNone/>
                      </a:pPr>
                      <a:r>
                        <a:rPr lang="en-US" sz="1300" dirty="0">
                          <a:solidFill>
                            <a:srgbClr val="2C2C2C"/>
                          </a:solidFill>
                          <a:latin typeface="Calibri" pitchFamily="34" charset="0"/>
                          <a:ea typeface="Calibri" pitchFamily="34" charset="-122"/>
                          <a:cs typeface="Calibri" pitchFamily="34" charset="-120"/>
                        </a:rPr>
                        <a:t>7 markets: Market Average, Gulu, Lira, Jinja, Hoima, Busia, Mbarara</a:t>
                      </a:r>
                      <a:endParaRPr lang="en-US" sz="1300" dirty="0">
                        <a:latin typeface="Calibri" charset="0"/>
                        <a:ea typeface="Calibri" charset="0"/>
                        <a:cs typeface="Calibri" charset="0"/>
                      </a:endParaRPr>
                    </a:p>
                  </a:txBody>
                  <a:tcPr anchor="ctr">
                    <a:lnL w="6350" cap="flat" cmpd="sng" algn="ctr">
                      <a:solidFill>
                        <a:srgbClr val="E8E4DD"/>
                      </a:solidFill>
                      <a:prstDash val="solid"/>
                      <a:round/>
                      <a:headEnd type="none" w="med" len="med"/>
                      <a:tailEnd type="none" w="med" len="med"/>
                    </a:lnL>
                    <a:lnR w="6350" cap="flat" cmpd="sng" algn="ctr">
                      <a:solidFill>
                        <a:srgbClr val="E8E4DD"/>
                      </a:solidFill>
                      <a:prstDash val="solid"/>
                      <a:round/>
                      <a:headEnd type="none" w="med" len="med"/>
                      <a:tailEnd type="none" w="med" len="med"/>
                    </a:lnR>
                    <a:lnT w="6350" cap="flat" cmpd="sng" algn="ctr">
                      <a:solidFill>
                        <a:srgbClr val="E8E4DD"/>
                      </a:solidFill>
                      <a:prstDash val="solid"/>
                      <a:round/>
                      <a:headEnd type="none" w="med" len="med"/>
                      <a:tailEnd type="none" w="med" len="med"/>
                    </a:lnT>
                    <a:lnB w="6350" cap="flat" cmpd="sng" algn="ctr">
                      <a:solidFill>
                        <a:srgbClr val="E8E4DD"/>
                      </a:solidFill>
                      <a:prstDash val="solid"/>
                      <a:round/>
                      <a:headEnd type="none" w="med" len="med"/>
                      <a:tailEnd type="none" w="med" len="med"/>
                    </a:lnB>
                  </a:tcPr>
                </a:tc>
                <a:extLst>
                  <a:ext uri="{0D108BD9-81ED-4DB2-BD59-A6C34878D82A}">
                    <a16:rowId xmlns:a16="http://schemas.microsoft.com/office/drawing/2014/main" val="10002"/>
                  </a:ext>
                </a:extLst>
              </a:tr>
              <a:tr h="556260">
                <a:tc>
                  <a:txBody>
                    <a:bodyPr/>
                    <a:lstStyle/>
                    <a:p>
                      <a:pPr marL="0" indent="0" algn="l">
                        <a:buNone/>
                      </a:pPr>
                      <a:r>
                        <a:rPr lang="en-US" sz="1300" dirty="0">
                          <a:solidFill>
                            <a:srgbClr val="2C2C2C"/>
                          </a:solidFill>
                          <a:latin typeface="Calibri" pitchFamily="34" charset="0"/>
                          <a:ea typeface="Calibri" pitchFamily="34" charset="-122"/>
                          <a:cs typeface="Calibri" pitchFamily="34" charset="-120"/>
                        </a:rPr>
                        <a:t>Number of rows</a:t>
                      </a:r>
                      <a:endParaRPr lang="en-US" sz="1300" dirty="0">
                        <a:latin typeface="Calibri" charset="0"/>
                        <a:ea typeface="Calibri" charset="0"/>
                        <a:cs typeface="Calibri" charset="0"/>
                      </a:endParaRPr>
                    </a:p>
                  </a:txBody>
                  <a:tcPr anchor="ctr">
                    <a:lnL w="6350" cap="flat" cmpd="sng" algn="ctr">
                      <a:solidFill>
                        <a:srgbClr val="E8E4DD"/>
                      </a:solidFill>
                      <a:prstDash val="solid"/>
                      <a:round/>
                      <a:headEnd type="none" w="med" len="med"/>
                      <a:tailEnd type="none" w="med" len="med"/>
                    </a:lnL>
                    <a:lnR w="6350" cap="flat" cmpd="sng" algn="ctr">
                      <a:solidFill>
                        <a:srgbClr val="E8E4DD"/>
                      </a:solidFill>
                      <a:prstDash val="solid"/>
                      <a:round/>
                      <a:headEnd type="none" w="med" len="med"/>
                      <a:tailEnd type="none" w="med" len="med"/>
                    </a:lnR>
                    <a:lnT w="6350" cap="flat" cmpd="sng" algn="ctr">
                      <a:solidFill>
                        <a:srgbClr val="E8E4DD"/>
                      </a:solidFill>
                      <a:prstDash val="solid"/>
                      <a:round/>
                      <a:headEnd type="none" w="med" len="med"/>
                      <a:tailEnd type="none" w="med" len="med"/>
                    </a:lnT>
                    <a:lnB w="6350" cap="flat" cmpd="sng" algn="ctr">
                      <a:solidFill>
                        <a:srgbClr val="E8E4DD"/>
                      </a:solidFill>
                      <a:prstDash val="solid"/>
                      <a:round/>
                      <a:headEnd type="none" w="med" len="med"/>
                      <a:tailEnd type="none" w="med" len="med"/>
                    </a:lnB>
                  </a:tcPr>
                </a:tc>
                <a:tc>
                  <a:txBody>
                    <a:bodyPr/>
                    <a:lstStyle/>
                    <a:p>
                      <a:pPr marL="0" indent="0" algn="l">
                        <a:buNone/>
                      </a:pPr>
                      <a:r>
                        <a:rPr lang="en-US" sz="1300" dirty="0">
                          <a:solidFill>
                            <a:srgbClr val="2C2C2C"/>
                          </a:solidFill>
                          <a:latin typeface="Calibri" pitchFamily="34" charset="0"/>
                          <a:ea typeface="Calibri" pitchFamily="34" charset="-122"/>
                          <a:cs typeface="Calibri" pitchFamily="34" charset="-120"/>
                        </a:rPr>
                        <a:t>1 652</a:t>
                      </a:r>
                      <a:endParaRPr lang="en-US" sz="1300" dirty="0">
                        <a:latin typeface="Calibri" charset="0"/>
                        <a:ea typeface="Calibri" charset="0"/>
                        <a:cs typeface="Calibri" charset="0"/>
                      </a:endParaRPr>
                    </a:p>
                  </a:txBody>
                  <a:tcPr anchor="ctr">
                    <a:lnL w="6350" cap="flat" cmpd="sng" algn="ctr">
                      <a:solidFill>
                        <a:srgbClr val="E8E4DD"/>
                      </a:solidFill>
                      <a:prstDash val="solid"/>
                      <a:round/>
                      <a:headEnd type="none" w="med" len="med"/>
                      <a:tailEnd type="none" w="med" len="med"/>
                    </a:lnL>
                    <a:lnR w="6350" cap="flat" cmpd="sng" algn="ctr">
                      <a:solidFill>
                        <a:srgbClr val="E8E4DD"/>
                      </a:solidFill>
                      <a:prstDash val="solid"/>
                      <a:round/>
                      <a:headEnd type="none" w="med" len="med"/>
                      <a:tailEnd type="none" w="med" len="med"/>
                    </a:lnR>
                    <a:lnT w="6350" cap="flat" cmpd="sng" algn="ctr">
                      <a:solidFill>
                        <a:srgbClr val="E8E4DD"/>
                      </a:solidFill>
                      <a:prstDash val="solid"/>
                      <a:round/>
                      <a:headEnd type="none" w="med" len="med"/>
                      <a:tailEnd type="none" w="med" len="med"/>
                    </a:lnT>
                    <a:lnB w="6350" cap="flat" cmpd="sng" algn="ctr">
                      <a:solidFill>
                        <a:srgbClr val="E8E4DD"/>
                      </a:solidFill>
                      <a:prstDash val="solid"/>
                      <a:round/>
                      <a:headEnd type="none" w="med" len="med"/>
                      <a:tailEnd type="none" w="med" len="med"/>
                    </a:lnB>
                  </a:tcPr>
                </a:tc>
                <a:extLst>
                  <a:ext uri="{0D108BD9-81ED-4DB2-BD59-A6C34878D82A}">
                    <a16:rowId xmlns:a16="http://schemas.microsoft.com/office/drawing/2014/main" val="10003"/>
                  </a:ext>
                </a:extLst>
              </a:tr>
              <a:tr h="556260">
                <a:tc>
                  <a:txBody>
                    <a:bodyPr/>
                    <a:lstStyle/>
                    <a:p>
                      <a:pPr marL="0" indent="0" algn="l">
                        <a:buNone/>
                      </a:pPr>
                      <a:r>
                        <a:rPr lang="en-US" sz="1300" dirty="0">
                          <a:solidFill>
                            <a:srgbClr val="2C2C2C"/>
                          </a:solidFill>
                          <a:latin typeface="Calibri" pitchFamily="34" charset="0"/>
                          <a:ea typeface="Calibri" pitchFamily="34" charset="-122"/>
                          <a:cs typeface="Calibri" pitchFamily="34" charset="-120"/>
                        </a:rPr>
                        <a:t>Time period</a:t>
                      </a:r>
                      <a:endParaRPr lang="en-US" sz="1300" dirty="0">
                        <a:latin typeface="Calibri" charset="0"/>
                        <a:ea typeface="Calibri" charset="0"/>
                        <a:cs typeface="Calibri" charset="0"/>
                      </a:endParaRPr>
                    </a:p>
                  </a:txBody>
                  <a:tcPr anchor="ctr">
                    <a:lnL w="6350" cap="flat" cmpd="sng" algn="ctr">
                      <a:solidFill>
                        <a:srgbClr val="E8E4DD"/>
                      </a:solidFill>
                      <a:prstDash val="solid"/>
                      <a:round/>
                      <a:headEnd type="none" w="med" len="med"/>
                      <a:tailEnd type="none" w="med" len="med"/>
                    </a:lnL>
                    <a:lnR w="6350" cap="flat" cmpd="sng" algn="ctr">
                      <a:solidFill>
                        <a:srgbClr val="E8E4DD"/>
                      </a:solidFill>
                      <a:prstDash val="solid"/>
                      <a:round/>
                      <a:headEnd type="none" w="med" len="med"/>
                      <a:tailEnd type="none" w="med" len="med"/>
                    </a:lnR>
                    <a:lnT w="6350" cap="flat" cmpd="sng" algn="ctr">
                      <a:solidFill>
                        <a:srgbClr val="E8E4DD"/>
                      </a:solidFill>
                      <a:prstDash val="solid"/>
                      <a:round/>
                      <a:headEnd type="none" w="med" len="med"/>
                      <a:tailEnd type="none" w="med" len="med"/>
                    </a:lnT>
                    <a:lnB w="6350" cap="flat" cmpd="sng" algn="ctr">
                      <a:solidFill>
                        <a:srgbClr val="E8E4DD"/>
                      </a:solidFill>
                      <a:prstDash val="solid"/>
                      <a:round/>
                      <a:headEnd type="none" w="med" len="med"/>
                      <a:tailEnd type="none" w="med" len="med"/>
                    </a:lnB>
                  </a:tcPr>
                </a:tc>
                <a:tc>
                  <a:txBody>
                    <a:bodyPr/>
                    <a:lstStyle/>
                    <a:p>
                      <a:pPr marL="0" indent="0" algn="l">
                        <a:buNone/>
                      </a:pPr>
                      <a:r>
                        <a:rPr lang="en-US" sz="1300" dirty="0">
                          <a:solidFill>
                            <a:srgbClr val="2C2C2C"/>
                          </a:solidFill>
                          <a:latin typeface="Calibri" pitchFamily="34" charset="0"/>
                          <a:ea typeface="Calibri" pitchFamily="34" charset="-122"/>
                          <a:cs typeface="Calibri" pitchFamily="34" charset="-120"/>
                        </a:rPr>
                        <a:t>January 2007 to August 2026</a:t>
                      </a:r>
                      <a:endParaRPr lang="en-US" sz="1300" dirty="0">
                        <a:latin typeface="Calibri" charset="0"/>
                        <a:ea typeface="Calibri" charset="0"/>
                        <a:cs typeface="Calibri" charset="0"/>
                      </a:endParaRPr>
                    </a:p>
                  </a:txBody>
                  <a:tcPr anchor="ctr">
                    <a:lnL w="6350" cap="flat" cmpd="sng" algn="ctr">
                      <a:solidFill>
                        <a:srgbClr val="E8E4DD"/>
                      </a:solidFill>
                      <a:prstDash val="solid"/>
                      <a:round/>
                      <a:headEnd type="none" w="med" len="med"/>
                      <a:tailEnd type="none" w="med" len="med"/>
                    </a:lnL>
                    <a:lnR w="6350" cap="flat" cmpd="sng" algn="ctr">
                      <a:solidFill>
                        <a:srgbClr val="E8E4DD"/>
                      </a:solidFill>
                      <a:prstDash val="solid"/>
                      <a:round/>
                      <a:headEnd type="none" w="med" len="med"/>
                      <a:tailEnd type="none" w="med" len="med"/>
                    </a:lnR>
                    <a:lnT w="6350" cap="flat" cmpd="sng" algn="ctr">
                      <a:solidFill>
                        <a:srgbClr val="E8E4DD"/>
                      </a:solidFill>
                      <a:prstDash val="solid"/>
                      <a:round/>
                      <a:headEnd type="none" w="med" len="med"/>
                      <a:tailEnd type="none" w="med" len="med"/>
                    </a:lnT>
                    <a:lnB w="6350" cap="flat" cmpd="sng" algn="ctr">
                      <a:solidFill>
                        <a:srgbClr val="E8E4DD"/>
                      </a:solidFill>
                      <a:prstDash val="solid"/>
                      <a:round/>
                      <a:headEnd type="none" w="med" len="med"/>
                      <a:tailEnd type="none" w="med" len="med"/>
                    </a:lnB>
                  </a:tcPr>
                </a:tc>
                <a:extLst>
                  <a:ext uri="{0D108BD9-81ED-4DB2-BD59-A6C34878D82A}">
                    <a16:rowId xmlns:a16="http://schemas.microsoft.com/office/drawing/2014/main" val="10004"/>
                  </a:ext>
                </a:extLst>
              </a:tr>
              <a:tr h="556260">
                <a:tc>
                  <a:txBody>
                    <a:bodyPr/>
                    <a:lstStyle/>
                    <a:p>
                      <a:pPr marL="0" indent="0" algn="l">
                        <a:buNone/>
                      </a:pPr>
                      <a:r>
                        <a:rPr lang="en-US" sz="1300" dirty="0">
                          <a:solidFill>
                            <a:srgbClr val="2C2C2C"/>
                          </a:solidFill>
                          <a:latin typeface="Calibri" pitchFamily="34" charset="0"/>
                          <a:ea typeface="Calibri" pitchFamily="34" charset="-122"/>
                          <a:cs typeface="Calibri" pitchFamily="34" charset="-120"/>
                        </a:rPr>
                        <a:t>Targets</a:t>
                      </a:r>
                      <a:endParaRPr lang="en-US" sz="1300" dirty="0">
                        <a:latin typeface="Calibri" charset="0"/>
                        <a:ea typeface="Calibri" charset="0"/>
                        <a:cs typeface="Calibri" charset="0"/>
                      </a:endParaRPr>
                    </a:p>
                  </a:txBody>
                  <a:tcPr anchor="ctr">
                    <a:lnL w="6350" cap="flat" cmpd="sng" algn="ctr">
                      <a:solidFill>
                        <a:srgbClr val="E8E4DD"/>
                      </a:solidFill>
                      <a:prstDash val="solid"/>
                      <a:round/>
                      <a:headEnd type="none" w="med" len="med"/>
                      <a:tailEnd type="none" w="med" len="med"/>
                    </a:lnL>
                    <a:lnR w="6350" cap="flat" cmpd="sng" algn="ctr">
                      <a:solidFill>
                        <a:srgbClr val="E8E4DD"/>
                      </a:solidFill>
                      <a:prstDash val="solid"/>
                      <a:round/>
                      <a:headEnd type="none" w="med" len="med"/>
                      <a:tailEnd type="none" w="med" len="med"/>
                    </a:lnR>
                    <a:lnT w="6350" cap="flat" cmpd="sng" algn="ctr">
                      <a:solidFill>
                        <a:srgbClr val="E8E4DD"/>
                      </a:solidFill>
                      <a:prstDash val="solid"/>
                      <a:round/>
                      <a:headEnd type="none" w="med" len="med"/>
                      <a:tailEnd type="none" w="med" len="med"/>
                    </a:lnT>
                    <a:lnB w="6350" cap="flat" cmpd="sng" algn="ctr">
                      <a:solidFill>
                        <a:srgbClr val="E8E4DD"/>
                      </a:solidFill>
                      <a:prstDash val="solid"/>
                      <a:round/>
                      <a:headEnd type="none" w="med" len="med"/>
                      <a:tailEnd type="none" w="med" len="med"/>
                    </a:lnB>
                  </a:tcPr>
                </a:tc>
                <a:tc>
                  <a:txBody>
                    <a:bodyPr/>
                    <a:lstStyle/>
                    <a:p>
                      <a:pPr marL="0" indent="0" algn="l">
                        <a:buNone/>
                      </a:pPr>
                      <a:r>
                        <a:rPr lang="en-US" sz="1300" dirty="0">
                          <a:solidFill>
                            <a:srgbClr val="2C2C2C"/>
                          </a:solidFill>
                          <a:latin typeface="Calibri" pitchFamily="34" charset="0"/>
                          <a:ea typeface="Calibri" pitchFamily="34" charset="-122"/>
                          <a:cs typeface="Calibri" pitchFamily="34" charset="-120"/>
                        </a:rPr>
                        <a:t>c_maize and c_beans (UGX per kg)</a:t>
                      </a:r>
                      <a:endParaRPr lang="en-US" sz="1300" dirty="0">
                        <a:latin typeface="Calibri" charset="0"/>
                        <a:ea typeface="Calibri" charset="0"/>
                        <a:cs typeface="Calibri" charset="0"/>
                      </a:endParaRPr>
                    </a:p>
                  </a:txBody>
                  <a:tcPr anchor="ctr">
                    <a:lnL w="6350" cap="flat" cmpd="sng" algn="ctr">
                      <a:solidFill>
                        <a:srgbClr val="E8E4DD"/>
                      </a:solidFill>
                      <a:prstDash val="solid"/>
                      <a:round/>
                      <a:headEnd type="none" w="med" len="med"/>
                      <a:tailEnd type="none" w="med" len="med"/>
                    </a:lnL>
                    <a:lnR w="6350" cap="flat" cmpd="sng" algn="ctr">
                      <a:solidFill>
                        <a:srgbClr val="E8E4DD"/>
                      </a:solidFill>
                      <a:prstDash val="solid"/>
                      <a:round/>
                      <a:headEnd type="none" w="med" len="med"/>
                      <a:tailEnd type="none" w="med" len="med"/>
                    </a:lnR>
                    <a:lnT w="6350" cap="flat" cmpd="sng" algn="ctr">
                      <a:solidFill>
                        <a:srgbClr val="E8E4DD"/>
                      </a:solidFill>
                      <a:prstDash val="solid"/>
                      <a:round/>
                      <a:headEnd type="none" w="med" len="med"/>
                      <a:tailEnd type="none" w="med" len="med"/>
                    </a:lnT>
                    <a:lnB w="6350" cap="flat" cmpd="sng" algn="ctr">
                      <a:solidFill>
                        <a:srgbClr val="E8E4DD"/>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82880"/>
            <a:ext cx="8229600" cy="320040"/>
          </a:xfrm>
          <a:prstGeom prst="rect">
            <a:avLst/>
          </a:prstGeom>
          <a:noFill/>
          <a:ln/>
        </p:spPr>
        <p:txBody>
          <a:bodyPr wrap="square" rtlCol="0" anchor="ctr"/>
          <a:lstStyle/>
          <a:p>
            <a:pPr marL="0" indent="0">
              <a:buNone/>
            </a:pPr>
            <a:r>
              <a:rPr lang="en-US" sz="2000" b="1" dirty="0">
                <a:solidFill>
                  <a:srgbClr val="1B2A4A"/>
                </a:solidFill>
                <a:latin typeface="Century Gothic" pitchFamily="34" charset="0"/>
                <a:ea typeface="Century Gothic" pitchFamily="34" charset="-122"/>
                <a:cs typeface="Century Gothic" pitchFamily="34" charset="-120"/>
              </a:rPr>
              <a:t>THE FOUR MAIN STEPS WE FOLLOWED</a:t>
            </a:r>
            <a:endParaRPr lang="en-US" sz="2000" dirty="0"/>
          </a:p>
        </p:txBody>
      </p:sp>
      <p:sp>
        <p:nvSpPr>
          <p:cNvPr id="4" name="Text 2"/>
          <p:cNvSpPr/>
          <p:nvPr/>
        </p:nvSpPr>
        <p:spPr>
          <a:xfrm>
            <a:off x="457200" y="594360"/>
            <a:ext cx="8229600" cy="457200"/>
          </a:xfrm>
          <a:prstGeom prst="rect">
            <a:avLst/>
          </a:prstGeom>
          <a:noFill/>
          <a:ln/>
        </p:spPr>
        <p:txBody>
          <a:bodyPr wrap="square" rtlCol="0" anchor="ctr"/>
          <a:lstStyle/>
          <a:p>
            <a:pPr marL="0" indent="0">
              <a:buNone/>
            </a:pPr>
            <a:r>
              <a:rPr lang="en-US" sz="1300" dirty="0">
                <a:solidFill>
                  <a:srgbClr val="2C2C2C"/>
                </a:solidFill>
                <a:latin typeface="Calibri" pitchFamily="34" charset="0"/>
                <a:ea typeface="Calibri" pitchFamily="34" charset="-122"/>
                <a:cs typeface="Calibri" pitchFamily="34" charset="-120"/>
              </a:rPr>
              <a:t>We used the normal data mining steps that the books talk about. Cleaning, integration, transformation and reduction. These steps sit inside the bigger Knowledge Discovery process</a:t>
            </a:r>
            <a:endParaRPr lang="en-US" sz="1300" dirty="0"/>
          </a:p>
        </p:txBody>
      </p:sp>
      <p:sp>
        <p:nvSpPr>
          <p:cNvPr id="5" name="Shape 3"/>
          <p:cNvSpPr/>
          <p:nvPr/>
        </p:nvSpPr>
        <p:spPr>
          <a:xfrm>
            <a:off x="320040" y="1234440"/>
            <a:ext cx="2057400" cy="3200400"/>
          </a:xfrm>
          <a:prstGeom prst="roundRect">
            <a:avLst>
              <a:gd name="adj" fmla="val 4444"/>
            </a:avLst>
          </a:prstGeom>
          <a:solidFill>
            <a:srgbClr val="FFFFFF"/>
          </a:solidFill>
          <a:ln/>
          <a:effectLst>
            <a:outerShdw blurRad="50800" dist="12700" dir="16200000" algn="bl" rotWithShape="0">
              <a:srgbClr val="000000">
                <a:alpha val="10000"/>
              </a:srgbClr>
            </a:outerShdw>
          </a:effectLst>
        </p:spPr>
      </p:sp>
      <p:sp>
        <p:nvSpPr>
          <p:cNvPr id="6" name="Shape 4"/>
          <p:cNvSpPr/>
          <p:nvPr/>
        </p:nvSpPr>
        <p:spPr>
          <a:xfrm>
            <a:off x="1005840" y="1417320"/>
            <a:ext cx="685800" cy="685800"/>
          </a:xfrm>
          <a:prstGeom prst="ellipse">
            <a:avLst/>
          </a:prstGeom>
          <a:solidFill>
            <a:srgbClr val="1B2A4A"/>
          </a:solidFill>
          <a:ln/>
        </p:spPr>
      </p:sp>
      <p:sp>
        <p:nvSpPr>
          <p:cNvPr id="7" name="Text 5"/>
          <p:cNvSpPr/>
          <p:nvPr/>
        </p:nvSpPr>
        <p:spPr>
          <a:xfrm>
            <a:off x="1005840" y="1417320"/>
            <a:ext cx="685800" cy="685800"/>
          </a:xfrm>
          <a:prstGeom prst="rect">
            <a:avLst/>
          </a:prstGeom>
          <a:noFill/>
          <a:ln/>
        </p:spPr>
        <p:txBody>
          <a:bodyPr wrap="square" rtlCol="0" anchor="ctr"/>
          <a:lstStyle/>
          <a:p>
            <a:pPr marL="0" indent="0" algn="ctr">
              <a:buNone/>
            </a:pPr>
            <a:r>
              <a:rPr lang="en-US" sz="2000" b="1" dirty="0">
                <a:solidFill>
                  <a:srgbClr val="FFFFFF"/>
                </a:solidFill>
                <a:latin typeface="Century Gothic" pitchFamily="34" charset="0"/>
                <a:ea typeface="Century Gothic" pitchFamily="34" charset="-122"/>
                <a:cs typeface="Century Gothic" pitchFamily="34" charset="-120"/>
              </a:rPr>
              <a:t>1</a:t>
            </a:r>
            <a:endParaRPr lang="en-US" sz="2000" dirty="0"/>
          </a:p>
        </p:txBody>
      </p:sp>
      <p:sp>
        <p:nvSpPr>
          <p:cNvPr id="8" name="Text 6"/>
          <p:cNvSpPr/>
          <p:nvPr/>
        </p:nvSpPr>
        <p:spPr>
          <a:xfrm>
            <a:off x="411480" y="2240280"/>
            <a:ext cx="1874520" cy="320040"/>
          </a:xfrm>
          <a:prstGeom prst="rect">
            <a:avLst/>
          </a:prstGeom>
          <a:noFill/>
          <a:ln/>
        </p:spPr>
        <p:txBody>
          <a:bodyPr wrap="square" rtlCol="0" anchor="ctr"/>
          <a:lstStyle/>
          <a:p>
            <a:pPr marL="0" indent="0" algn="ctr">
              <a:buNone/>
            </a:pPr>
            <a:r>
              <a:rPr lang="en-US" sz="1400" b="1" dirty="0">
                <a:solidFill>
                  <a:srgbClr val="1B2A4A"/>
                </a:solidFill>
                <a:latin typeface="Century Gothic" pitchFamily="34" charset="0"/>
                <a:ea typeface="Century Gothic" pitchFamily="34" charset="-122"/>
                <a:cs typeface="Century Gothic" pitchFamily="34" charset="-120"/>
              </a:rPr>
              <a:t>Cleaning</a:t>
            </a:r>
            <a:endParaRPr lang="en-US" sz="1400" dirty="0"/>
          </a:p>
        </p:txBody>
      </p:sp>
      <p:sp>
        <p:nvSpPr>
          <p:cNvPr id="10" name="Text 8"/>
          <p:cNvSpPr/>
          <p:nvPr/>
        </p:nvSpPr>
        <p:spPr>
          <a:xfrm>
            <a:off x="457200" y="2606040"/>
            <a:ext cx="1783080" cy="1600200"/>
          </a:xfrm>
          <a:prstGeom prst="rect">
            <a:avLst/>
          </a:prstGeom>
          <a:noFill/>
          <a:ln/>
        </p:spPr>
        <p:txBody>
          <a:bodyPr wrap="square" rtlCol="0" anchor="ctr"/>
          <a:lstStyle/>
          <a:p>
            <a:pPr marL="0" indent="0" algn="ctr">
              <a:buNone/>
            </a:pPr>
            <a:r>
              <a:rPr lang="en-US" sz="1200" dirty="0">
                <a:solidFill>
                  <a:srgbClr val="2C2C2C"/>
                </a:solidFill>
                <a:latin typeface="Calibri" pitchFamily="34" charset="0"/>
                <a:ea typeface="Calibri" pitchFamily="34" charset="-122"/>
                <a:cs typeface="Calibri" pitchFamily="34" charset="-120"/>
              </a:rPr>
              <a:t>Missing values</a:t>
            </a:r>
            <a:endParaRPr lang="en-US" sz="1200" dirty="0"/>
          </a:p>
          <a:p>
            <a:pPr marL="0" indent="0" algn="ctr">
              <a:buNone/>
            </a:pPr>
            <a:r>
              <a:rPr lang="en-US" sz="1200" dirty="0">
                <a:solidFill>
                  <a:srgbClr val="2C2C2C"/>
                </a:solidFill>
                <a:latin typeface="Calibri" pitchFamily="34" charset="0"/>
                <a:ea typeface="Calibri" pitchFamily="34" charset="-122"/>
                <a:cs typeface="Calibri" pitchFamily="34" charset="-120"/>
              </a:rPr>
              <a:t>Duplicates</a:t>
            </a:r>
            <a:endParaRPr lang="en-US" sz="1200" dirty="0"/>
          </a:p>
          <a:p>
            <a:pPr marL="0" indent="0" algn="ctr">
              <a:buNone/>
            </a:pPr>
            <a:r>
              <a:rPr lang="en-US" sz="1200" dirty="0">
                <a:solidFill>
                  <a:srgbClr val="2C2C2C"/>
                </a:solidFill>
                <a:latin typeface="Calibri" pitchFamily="34" charset="0"/>
                <a:ea typeface="Calibri" pitchFamily="34" charset="-122"/>
                <a:cs typeface="Calibri" pitchFamily="34" charset="-120"/>
              </a:rPr>
              <a:t>Outliers with IQR</a:t>
            </a:r>
            <a:endParaRPr lang="en-US" sz="1200" dirty="0"/>
          </a:p>
        </p:txBody>
      </p:sp>
      <p:sp>
        <p:nvSpPr>
          <p:cNvPr id="11" name="Shape 9"/>
          <p:cNvSpPr/>
          <p:nvPr/>
        </p:nvSpPr>
        <p:spPr>
          <a:xfrm>
            <a:off x="2514600" y="1234440"/>
            <a:ext cx="2057400" cy="3200400"/>
          </a:xfrm>
          <a:prstGeom prst="roundRect">
            <a:avLst>
              <a:gd name="adj" fmla="val 4444"/>
            </a:avLst>
          </a:prstGeom>
          <a:solidFill>
            <a:srgbClr val="FFFFFF"/>
          </a:solidFill>
          <a:ln/>
          <a:effectLst>
            <a:outerShdw blurRad="50800" dist="12700" dir="16200000" algn="bl" rotWithShape="0">
              <a:srgbClr val="000000">
                <a:alpha val="10000"/>
              </a:srgbClr>
            </a:outerShdw>
          </a:effectLst>
        </p:spPr>
      </p:sp>
      <p:sp>
        <p:nvSpPr>
          <p:cNvPr id="12" name="Shape 10"/>
          <p:cNvSpPr/>
          <p:nvPr/>
        </p:nvSpPr>
        <p:spPr>
          <a:xfrm>
            <a:off x="3200400" y="1417320"/>
            <a:ext cx="685800" cy="685800"/>
          </a:xfrm>
          <a:prstGeom prst="ellipse">
            <a:avLst/>
          </a:prstGeom>
          <a:solidFill>
            <a:srgbClr val="1B2A4A"/>
          </a:solidFill>
          <a:ln/>
        </p:spPr>
      </p:sp>
      <p:sp>
        <p:nvSpPr>
          <p:cNvPr id="13" name="Text 11"/>
          <p:cNvSpPr/>
          <p:nvPr/>
        </p:nvSpPr>
        <p:spPr>
          <a:xfrm>
            <a:off x="3200400" y="1417320"/>
            <a:ext cx="685800" cy="685800"/>
          </a:xfrm>
          <a:prstGeom prst="rect">
            <a:avLst/>
          </a:prstGeom>
          <a:noFill/>
          <a:ln/>
        </p:spPr>
        <p:txBody>
          <a:bodyPr wrap="square" rtlCol="0" anchor="ctr"/>
          <a:lstStyle/>
          <a:p>
            <a:pPr marL="0" indent="0" algn="ctr">
              <a:buNone/>
            </a:pPr>
            <a:r>
              <a:rPr lang="en-US" sz="2000" b="1" dirty="0">
                <a:solidFill>
                  <a:srgbClr val="FFFFFF"/>
                </a:solidFill>
                <a:latin typeface="Century Gothic" pitchFamily="34" charset="0"/>
                <a:ea typeface="Century Gothic" pitchFamily="34" charset="-122"/>
                <a:cs typeface="Century Gothic" pitchFamily="34" charset="-120"/>
              </a:rPr>
              <a:t>2</a:t>
            </a:r>
            <a:endParaRPr lang="en-US" sz="2000" dirty="0"/>
          </a:p>
        </p:txBody>
      </p:sp>
      <p:sp>
        <p:nvSpPr>
          <p:cNvPr id="14" name="Text 12"/>
          <p:cNvSpPr/>
          <p:nvPr/>
        </p:nvSpPr>
        <p:spPr>
          <a:xfrm>
            <a:off x="2606040" y="2240280"/>
            <a:ext cx="1874520" cy="320040"/>
          </a:xfrm>
          <a:prstGeom prst="rect">
            <a:avLst/>
          </a:prstGeom>
          <a:noFill/>
          <a:ln/>
        </p:spPr>
        <p:txBody>
          <a:bodyPr wrap="square" rtlCol="0" anchor="ctr"/>
          <a:lstStyle/>
          <a:p>
            <a:pPr marL="0" indent="0" algn="ctr">
              <a:buNone/>
            </a:pPr>
            <a:r>
              <a:rPr lang="en-US" sz="1400" b="1" dirty="0">
                <a:solidFill>
                  <a:srgbClr val="1B2A4A"/>
                </a:solidFill>
                <a:latin typeface="Century Gothic" pitchFamily="34" charset="0"/>
                <a:ea typeface="Century Gothic" pitchFamily="34" charset="-122"/>
                <a:cs typeface="Century Gothic" pitchFamily="34" charset="-120"/>
              </a:rPr>
              <a:t>Integration</a:t>
            </a:r>
            <a:endParaRPr lang="en-US" sz="1400" dirty="0"/>
          </a:p>
        </p:txBody>
      </p:sp>
      <p:sp>
        <p:nvSpPr>
          <p:cNvPr id="16" name="Text 14"/>
          <p:cNvSpPr/>
          <p:nvPr/>
        </p:nvSpPr>
        <p:spPr>
          <a:xfrm>
            <a:off x="2651760" y="2537460"/>
            <a:ext cx="1783080" cy="1668780"/>
          </a:xfrm>
          <a:prstGeom prst="rect">
            <a:avLst/>
          </a:prstGeom>
          <a:noFill/>
          <a:ln/>
        </p:spPr>
        <p:txBody>
          <a:bodyPr wrap="square" rtlCol="0" anchor="ctr"/>
          <a:lstStyle/>
          <a:p>
            <a:pPr marL="0" indent="0" algn="ctr">
              <a:buNone/>
            </a:pPr>
            <a:r>
              <a:rPr lang="en-US" sz="1200" dirty="0">
                <a:solidFill>
                  <a:srgbClr val="2C2C2C"/>
                </a:solidFill>
                <a:latin typeface="Calibri" pitchFamily="34" charset="0"/>
                <a:ea typeface="Calibri" pitchFamily="34" charset="-122"/>
                <a:cs typeface="Calibri" pitchFamily="34" charset="-120"/>
              </a:rPr>
              <a:t>Only one file</a:t>
            </a:r>
            <a:endParaRPr lang="en-US" sz="1200" dirty="0"/>
          </a:p>
          <a:p>
            <a:pPr marL="0" indent="0" algn="ctr">
              <a:buNone/>
            </a:pPr>
            <a:r>
              <a:rPr lang="en-US" sz="1200" dirty="0">
                <a:solidFill>
                  <a:srgbClr val="2C2C2C"/>
                </a:solidFill>
                <a:latin typeface="Calibri" pitchFamily="34" charset="0"/>
                <a:ea typeface="Calibri" pitchFamily="34" charset="-122"/>
                <a:cs typeface="Calibri" pitchFamily="34" charset="-120"/>
              </a:rPr>
              <a:t>We said so clearly</a:t>
            </a:r>
            <a:endParaRPr lang="en-US" sz="1200" dirty="0"/>
          </a:p>
          <a:p>
            <a:pPr marL="0" indent="0" algn="ctr">
              <a:buNone/>
            </a:pPr>
            <a:r>
              <a:rPr lang="en-US" sz="1200" dirty="0">
                <a:solidFill>
                  <a:srgbClr val="2C2C2C"/>
                </a:solidFill>
                <a:latin typeface="Calibri" pitchFamily="34" charset="0"/>
                <a:ea typeface="Calibri" pitchFamily="34" charset="-122"/>
                <a:cs typeface="Calibri" pitchFamily="34" charset="-120"/>
              </a:rPr>
              <a:t>No joining needed</a:t>
            </a:r>
            <a:endParaRPr lang="en-US" sz="1200" dirty="0"/>
          </a:p>
        </p:txBody>
      </p:sp>
      <p:sp>
        <p:nvSpPr>
          <p:cNvPr id="17" name="Shape 15"/>
          <p:cNvSpPr/>
          <p:nvPr/>
        </p:nvSpPr>
        <p:spPr>
          <a:xfrm>
            <a:off x="4709160" y="1234440"/>
            <a:ext cx="2057400" cy="3200400"/>
          </a:xfrm>
          <a:prstGeom prst="roundRect">
            <a:avLst>
              <a:gd name="adj" fmla="val 4444"/>
            </a:avLst>
          </a:prstGeom>
          <a:solidFill>
            <a:srgbClr val="FFFFFF"/>
          </a:solidFill>
          <a:ln/>
          <a:effectLst>
            <a:outerShdw blurRad="50800" dist="12700" dir="16200000" algn="bl" rotWithShape="0">
              <a:srgbClr val="000000">
                <a:alpha val="10000"/>
              </a:srgbClr>
            </a:outerShdw>
          </a:effectLst>
        </p:spPr>
      </p:sp>
      <p:sp>
        <p:nvSpPr>
          <p:cNvPr id="18" name="Shape 16"/>
          <p:cNvSpPr/>
          <p:nvPr/>
        </p:nvSpPr>
        <p:spPr>
          <a:xfrm>
            <a:off x="5394960" y="1417320"/>
            <a:ext cx="685800" cy="685800"/>
          </a:xfrm>
          <a:prstGeom prst="ellipse">
            <a:avLst/>
          </a:prstGeom>
          <a:solidFill>
            <a:srgbClr val="1B2A4A"/>
          </a:solidFill>
          <a:ln/>
        </p:spPr>
      </p:sp>
      <p:sp>
        <p:nvSpPr>
          <p:cNvPr id="19" name="Text 17"/>
          <p:cNvSpPr/>
          <p:nvPr/>
        </p:nvSpPr>
        <p:spPr>
          <a:xfrm>
            <a:off x="5394960" y="1417320"/>
            <a:ext cx="685800" cy="685800"/>
          </a:xfrm>
          <a:prstGeom prst="rect">
            <a:avLst/>
          </a:prstGeom>
          <a:noFill/>
          <a:ln/>
        </p:spPr>
        <p:txBody>
          <a:bodyPr wrap="square" rtlCol="0" anchor="ctr"/>
          <a:lstStyle/>
          <a:p>
            <a:pPr marL="0" indent="0" algn="ctr">
              <a:buNone/>
            </a:pPr>
            <a:r>
              <a:rPr lang="en-US" sz="2000" b="1" dirty="0">
                <a:solidFill>
                  <a:srgbClr val="FFFFFF"/>
                </a:solidFill>
                <a:latin typeface="Century Gothic" pitchFamily="34" charset="0"/>
                <a:ea typeface="Century Gothic" pitchFamily="34" charset="-122"/>
                <a:cs typeface="Century Gothic" pitchFamily="34" charset="-120"/>
              </a:rPr>
              <a:t>3</a:t>
            </a:r>
            <a:endParaRPr lang="en-US" sz="2000" dirty="0"/>
          </a:p>
        </p:txBody>
      </p:sp>
      <p:sp>
        <p:nvSpPr>
          <p:cNvPr id="20" name="Text 18"/>
          <p:cNvSpPr/>
          <p:nvPr/>
        </p:nvSpPr>
        <p:spPr>
          <a:xfrm>
            <a:off x="4800600" y="2240280"/>
            <a:ext cx="1874520" cy="320040"/>
          </a:xfrm>
          <a:prstGeom prst="rect">
            <a:avLst/>
          </a:prstGeom>
          <a:noFill/>
          <a:ln/>
        </p:spPr>
        <p:txBody>
          <a:bodyPr wrap="square" rtlCol="0" anchor="ctr"/>
          <a:lstStyle/>
          <a:p>
            <a:pPr marL="0" indent="0" algn="ctr">
              <a:buNone/>
            </a:pPr>
            <a:r>
              <a:rPr lang="en-US" sz="1400" b="1" dirty="0">
                <a:solidFill>
                  <a:srgbClr val="1B2A4A"/>
                </a:solidFill>
                <a:latin typeface="Century Gothic" pitchFamily="34" charset="0"/>
                <a:ea typeface="Century Gothic" pitchFamily="34" charset="-122"/>
                <a:cs typeface="Century Gothic" pitchFamily="34" charset="-120"/>
              </a:rPr>
              <a:t>Transformation</a:t>
            </a:r>
            <a:endParaRPr lang="en-US" sz="1400" dirty="0"/>
          </a:p>
        </p:txBody>
      </p:sp>
      <p:sp>
        <p:nvSpPr>
          <p:cNvPr id="22" name="Text 20"/>
          <p:cNvSpPr/>
          <p:nvPr/>
        </p:nvSpPr>
        <p:spPr>
          <a:xfrm>
            <a:off x="4846320" y="2560320"/>
            <a:ext cx="1783080" cy="1645920"/>
          </a:xfrm>
          <a:prstGeom prst="rect">
            <a:avLst/>
          </a:prstGeom>
          <a:noFill/>
          <a:ln/>
        </p:spPr>
        <p:txBody>
          <a:bodyPr wrap="square" rtlCol="0" anchor="ctr"/>
          <a:lstStyle/>
          <a:p>
            <a:pPr marL="0" indent="0" algn="ctr">
              <a:buNone/>
            </a:pPr>
            <a:r>
              <a:rPr lang="en-US" sz="1200" dirty="0">
                <a:solidFill>
                  <a:srgbClr val="2C2C2C"/>
                </a:solidFill>
                <a:latin typeface="Calibri" pitchFamily="34" charset="0"/>
                <a:ea typeface="Calibri" pitchFamily="34" charset="-122"/>
                <a:cs typeface="Calibri" pitchFamily="34" charset="-120"/>
              </a:rPr>
              <a:t>One-hot for markets</a:t>
            </a:r>
            <a:endParaRPr lang="en-US" sz="1200" dirty="0"/>
          </a:p>
          <a:p>
            <a:pPr marL="0" indent="0" algn="ctr">
              <a:buNone/>
            </a:pPr>
            <a:r>
              <a:rPr lang="en-US" sz="1200" dirty="0">
                <a:solidFill>
                  <a:srgbClr val="2C2C2C"/>
                </a:solidFill>
                <a:latin typeface="Calibri" pitchFamily="34" charset="0"/>
                <a:ea typeface="Calibri" pitchFamily="34" charset="-122"/>
                <a:cs typeface="Calibri" pitchFamily="34" charset="-120"/>
              </a:rPr>
              <a:t>Z-score scaling</a:t>
            </a:r>
            <a:endParaRPr lang="en-US" sz="1200" dirty="0"/>
          </a:p>
          <a:p>
            <a:pPr marL="0" indent="0" algn="ctr">
              <a:buNone/>
            </a:pPr>
            <a:r>
              <a:rPr lang="en-US" sz="1200" dirty="0">
                <a:solidFill>
                  <a:srgbClr val="2C2C2C"/>
                </a:solidFill>
                <a:latin typeface="Calibri" pitchFamily="34" charset="0"/>
                <a:ea typeface="Calibri" pitchFamily="34" charset="-122"/>
                <a:cs typeface="Calibri" pitchFamily="34" charset="-120"/>
              </a:rPr>
              <a:t>Fit only on train</a:t>
            </a:r>
            <a:endParaRPr lang="en-US" sz="1200" dirty="0"/>
          </a:p>
        </p:txBody>
      </p:sp>
      <p:sp>
        <p:nvSpPr>
          <p:cNvPr id="23" name="Shape 21"/>
          <p:cNvSpPr/>
          <p:nvPr/>
        </p:nvSpPr>
        <p:spPr>
          <a:xfrm>
            <a:off x="6903720" y="1234440"/>
            <a:ext cx="2057400" cy="3200400"/>
          </a:xfrm>
          <a:prstGeom prst="roundRect">
            <a:avLst>
              <a:gd name="adj" fmla="val 4444"/>
            </a:avLst>
          </a:prstGeom>
          <a:solidFill>
            <a:srgbClr val="FFFFFF"/>
          </a:solidFill>
          <a:ln/>
          <a:effectLst>
            <a:outerShdw blurRad="50800" dist="12700" dir="16200000" algn="bl" rotWithShape="0">
              <a:srgbClr val="000000">
                <a:alpha val="10000"/>
              </a:srgbClr>
            </a:outerShdw>
          </a:effectLst>
        </p:spPr>
      </p:sp>
      <p:sp>
        <p:nvSpPr>
          <p:cNvPr id="24" name="Shape 22"/>
          <p:cNvSpPr/>
          <p:nvPr/>
        </p:nvSpPr>
        <p:spPr>
          <a:xfrm>
            <a:off x="7589520" y="1417320"/>
            <a:ext cx="685800" cy="685800"/>
          </a:xfrm>
          <a:prstGeom prst="ellipse">
            <a:avLst/>
          </a:prstGeom>
          <a:solidFill>
            <a:srgbClr val="1B2A4A"/>
          </a:solidFill>
          <a:ln/>
        </p:spPr>
      </p:sp>
      <p:sp>
        <p:nvSpPr>
          <p:cNvPr id="25" name="Text 23"/>
          <p:cNvSpPr/>
          <p:nvPr/>
        </p:nvSpPr>
        <p:spPr>
          <a:xfrm>
            <a:off x="7589520" y="1417320"/>
            <a:ext cx="685800" cy="685800"/>
          </a:xfrm>
          <a:prstGeom prst="rect">
            <a:avLst/>
          </a:prstGeom>
          <a:noFill/>
          <a:ln/>
        </p:spPr>
        <p:txBody>
          <a:bodyPr wrap="square" rtlCol="0" anchor="ctr"/>
          <a:lstStyle/>
          <a:p>
            <a:pPr marL="0" indent="0" algn="ctr">
              <a:buNone/>
            </a:pPr>
            <a:r>
              <a:rPr lang="en-US" sz="2000" b="1" dirty="0">
                <a:solidFill>
                  <a:srgbClr val="FFFFFF"/>
                </a:solidFill>
                <a:latin typeface="Century Gothic" pitchFamily="34" charset="0"/>
                <a:ea typeface="Century Gothic" pitchFamily="34" charset="-122"/>
                <a:cs typeface="Century Gothic" pitchFamily="34" charset="-120"/>
              </a:rPr>
              <a:t>4</a:t>
            </a:r>
            <a:endParaRPr lang="en-US" sz="2000" dirty="0"/>
          </a:p>
        </p:txBody>
      </p:sp>
      <p:sp>
        <p:nvSpPr>
          <p:cNvPr id="26" name="Text 24"/>
          <p:cNvSpPr/>
          <p:nvPr/>
        </p:nvSpPr>
        <p:spPr>
          <a:xfrm>
            <a:off x="6995160" y="2240280"/>
            <a:ext cx="1874520" cy="320040"/>
          </a:xfrm>
          <a:prstGeom prst="rect">
            <a:avLst/>
          </a:prstGeom>
          <a:noFill/>
          <a:ln/>
        </p:spPr>
        <p:txBody>
          <a:bodyPr wrap="square" rtlCol="0" anchor="ctr"/>
          <a:lstStyle/>
          <a:p>
            <a:pPr marL="0" indent="0" algn="ctr">
              <a:buNone/>
            </a:pPr>
            <a:r>
              <a:rPr lang="en-US" sz="1400" b="1" dirty="0">
                <a:solidFill>
                  <a:srgbClr val="1B2A4A"/>
                </a:solidFill>
                <a:latin typeface="Century Gothic" pitchFamily="34" charset="0"/>
                <a:ea typeface="Century Gothic" pitchFamily="34" charset="-122"/>
                <a:cs typeface="Century Gothic" pitchFamily="34" charset="-120"/>
              </a:rPr>
              <a:t>Reduction</a:t>
            </a:r>
            <a:endParaRPr lang="en-US" sz="1400" dirty="0"/>
          </a:p>
        </p:txBody>
      </p:sp>
      <p:sp>
        <p:nvSpPr>
          <p:cNvPr id="28" name="Text 26"/>
          <p:cNvSpPr/>
          <p:nvPr/>
        </p:nvSpPr>
        <p:spPr>
          <a:xfrm>
            <a:off x="7040880" y="2571750"/>
            <a:ext cx="1783080" cy="1634490"/>
          </a:xfrm>
          <a:prstGeom prst="rect">
            <a:avLst/>
          </a:prstGeom>
          <a:noFill/>
          <a:ln/>
        </p:spPr>
        <p:txBody>
          <a:bodyPr wrap="square" rtlCol="0" anchor="ctr"/>
          <a:lstStyle/>
          <a:p>
            <a:pPr marL="0" indent="0" algn="ctr">
              <a:buNone/>
            </a:pPr>
            <a:r>
              <a:rPr lang="en-US" sz="1200" dirty="0">
                <a:solidFill>
                  <a:srgbClr val="2C2C2C"/>
                </a:solidFill>
                <a:latin typeface="Calibri" pitchFamily="34" charset="0"/>
                <a:ea typeface="Calibri" pitchFamily="34" charset="-122"/>
                <a:cs typeface="Calibri" pitchFamily="34" charset="-120"/>
              </a:rPr>
              <a:t>Checked correlation</a:t>
            </a:r>
            <a:endParaRPr lang="en-US" sz="1200" dirty="0"/>
          </a:p>
          <a:p>
            <a:pPr marL="0" indent="0" algn="ctr">
              <a:buNone/>
            </a:pPr>
            <a:r>
              <a:rPr lang="en-US" sz="1200" dirty="0">
                <a:solidFill>
                  <a:srgbClr val="2C2C2C"/>
                </a:solidFill>
                <a:latin typeface="Calibri" pitchFamily="34" charset="0"/>
                <a:ea typeface="Calibri" pitchFamily="34" charset="-122"/>
                <a:cs typeface="Calibri" pitchFamily="34" charset="-120"/>
              </a:rPr>
              <a:t>Tried PCA</a:t>
            </a:r>
            <a:endParaRPr lang="en-US" sz="1200" dirty="0"/>
          </a:p>
          <a:p>
            <a:pPr marL="0" indent="0" algn="ctr">
              <a:buNone/>
            </a:pPr>
            <a:r>
              <a:rPr lang="en-US" sz="1200" dirty="0">
                <a:solidFill>
                  <a:srgbClr val="2C2C2C"/>
                </a:solidFill>
                <a:latin typeface="Calibri" pitchFamily="34" charset="0"/>
                <a:ea typeface="Calibri" pitchFamily="34" charset="-122"/>
                <a:cs typeface="Calibri" pitchFamily="34" charset="-120"/>
              </a:rPr>
              <a:t>80/20 split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82880"/>
            <a:ext cx="8229600" cy="320040"/>
          </a:xfrm>
          <a:prstGeom prst="rect">
            <a:avLst/>
          </a:prstGeom>
          <a:noFill/>
          <a:ln/>
        </p:spPr>
        <p:txBody>
          <a:bodyPr wrap="square" rtlCol="0" anchor="ctr"/>
          <a:lstStyle/>
          <a:p>
            <a:pPr marL="0" indent="0">
              <a:buNone/>
            </a:pPr>
            <a:r>
              <a:rPr lang="en-US" sz="2000" b="1" dirty="0">
                <a:solidFill>
                  <a:srgbClr val="1B2A4A"/>
                </a:solidFill>
                <a:latin typeface="Century Gothic" pitchFamily="34" charset="0"/>
                <a:ea typeface="Century Gothic" pitchFamily="34" charset="-122"/>
                <a:cs typeface="Century Gothic" pitchFamily="34" charset="-120"/>
              </a:rPr>
              <a:t>CLEANING THE DATA</a:t>
            </a:r>
            <a:endParaRPr lang="en-US" sz="2000" dirty="0"/>
          </a:p>
        </p:txBody>
      </p:sp>
      <p:sp>
        <p:nvSpPr>
          <p:cNvPr id="4" name="Shape 2"/>
          <p:cNvSpPr/>
          <p:nvPr/>
        </p:nvSpPr>
        <p:spPr>
          <a:xfrm>
            <a:off x="274320" y="640080"/>
            <a:ext cx="2788920" cy="3931920"/>
          </a:xfrm>
          <a:prstGeom prst="roundRect">
            <a:avLst>
              <a:gd name="adj" fmla="val 2623"/>
            </a:avLst>
          </a:prstGeom>
          <a:solidFill>
            <a:srgbClr val="FFFFFF"/>
          </a:solidFill>
          <a:ln/>
          <a:effectLst>
            <a:outerShdw blurRad="50800" dist="12700" dir="16200000" algn="bl" rotWithShape="0">
              <a:srgbClr val="000000">
                <a:alpha val="8000"/>
              </a:srgbClr>
            </a:outerShdw>
          </a:effectLst>
        </p:spPr>
      </p:sp>
      <p:sp>
        <p:nvSpPr>
          <p:cNvPr id="5" name="Shape 3"/>
          <p:cNvSpPr/>
          <p:nvPr/>
        </p:nvSpPr>
        <p:spPr>
          <a:xfrm>
            <a:off x="274320" y="640080"/>
            <a:ext cx="2788920" cy="457200"/>
          </a:xfrm>
          <a:prstGeom prst="rect">
            <a:avLst/>
          </a:prstGeom>
          <a:solidFill>
            <a:srgbClr val="1B2A4A"/>
          </a:solidFill>
          <a:ln/>
        </p:spPr>
      </p:sp>
      <p:sp>
        <p:nvSpPr>
          <p:cNvPr id="6" name="Text 4"/>
          <p:cNvSpPr/>
          <p:nvPr/>
        </p:nvSpPr>
        <p:spPr>
          <a:xfrm>
            <a:off x="365760" y="713232"/>
            <a:ext cx="2606040" cy="320040"/>
          </a:xfrm>
          <a:prstGeom prst="rect">
            <a:avLst/>
          </a:prstGeom>
          <a:noFill/>
          <a:ln/>
        </p:spPr>
        <p:txBody>
          <a:bodyPr wrap="square" rtlCol="0" anchor="ctr"/>
          <a:lstStyle/>
          <a:p>
            <a:pPr marL="0" indent="0" algn="ctr">
              <a:buNone/>
            </a:pPr>
            <a:r>
              <a:rPr lang="en-US" sz="1400" b="1" dirty="0">
                <a:solidFill>
                  <a:srgbClr val="FFFFFF"/>
                </a:solidFill>
                <a:latin typeface="Century Gothic" pitchFamily="34" charset="0"/>
                <a:ea typeface="Century Gothic" pitchFamily="34" charset="-122"/>
                <a:cs typeface="Century Gothic" pitchFamily="34" charset="-120"/>
              </a:rPr>
              <a:t>Missing Values</a:t>
            </a:r>
            <a:endParaRPr lang="en-US" sz="1400" dirty="0"/>
          </a:p>
        </p:txBody>
      </p:sp>
      <p:sp>
        <p:nvSpPr>
          <p:cNvPr id="7" name="Text 5"/>
          <p:cNvSpPr/>
          <p:nvPr/>
        </p:nvSpPr>
        <p:spPr>
          <a:xfrm>
            <a:off x="411480" y="1280160"/>
            <a:ext cx="2514600" cy="3108960"/>
          </a:xfrm>
          <a:prstGeom prst="rect">
            <a:avLst/>
          </a:prstGeom>
          <a:noFill/>
          <a:ln/>
        </p:spPr>
        <p:txBody>
          <a:bodyPr wrap="square" rtlCol="0" anchor="ctr"/>
          <a:lstStyle/>
          <a:p>
            <a:pPr marL="0" indent="0">
              <a:buNone/>
            </a:pPr>
            <a:r>
              <a:rPr lang="en-US" sz="1500" dirty="0">
                <a:solidFill>
                  <a:srgbClr val="2C2C2C"/>
                </a:solidFill>
                <a:latin typeface="Times New Roman" panose="02020603050405020304" pitchFamily="18" charset="0"/>
                <a:ea typeface="Calibri" pitchFamily="34" charset="-122"/>
                <a:cs typeface="Times New Roman" panose="02020603050405020304" pitchFamily="18" charset="0"/>
              </a:rPr>
              <a:t>The finished targets c_maize and c_beans had zero missing values. The original price columns had more than 50% missing. We kept those original columns only to compare later. We did not use them as features. Columns that were almost empty, like salt, we planned to drop.</a:t>
            </a:r>
            <a:endParaRPr lang="en-US" sz="1500" dirty="0">
              <a:latin typeface="Times New Roman" panose="02020603050405020304" pitchFamily="18" charset="0"/>
              <a:cs typeface="Times New Roman" panose="02020603050405020304" pitchFamily="18" charset="0"/>
            </a:endParaRPr>
          </a:p>
        </p:txBody>
      </p:sp>
      <p:sp>
        <p:nvSpPr>
          <p:cNvPr id="8" name="Shape 6"/>
          <p:cNvSpPr/>
          <p:nvPr/>
        </p:nvSpPr>
        <p:spPr>
          <a:xfrm>
            <a:off x="3200400" y="640080"/>
            <a:ext cx="2788920" cy="3931920"/>
          </a:xfrm>
          <a:prstGeom prst="roundRect">
            <a:avLst>
              <a:gd name="adj" fmla="val 2623"/>
            </a:avLst>
          </a:prstGeom>
          <a:solidFill>
            <a:srgbClr val="FFFFFF"/>
          </a:solidFill>
          <a:ln/>
          <a:effectLst>
            <a:outerShdw blurRad="50800" dist="12700" dir="16200000" algn="bl" rotWithShape="0">
              <a:srgbClr val="000000">
                <a:alpha val="8000"/>
              </a:srgbClr>
            </a:outerShdw>
          </a:effectLst>
        </p:spPr>
      </p:sp>
      <p:sp>
        <p:nvSpPr>
          <p:cNvPr id="9" name="Shape 7"/>
          <p:cNvSpPr/>
          <p:nvPr/>
        </p:nvSpPr>
        <p:spPr>
          <a:xfrm>
            <a:off x="3200400" y="640080"/>
            <a:ext cx="2788920" cy="457200"/>
          </a:xfrm>
          <a:prstGeom prst="rect">
            <a:avLst/>
          </a:prstGeom>
          <a:solidFill>
            <a:srgbClr val="1B2A4A"/>
          </a:solidFill>
          <a:ln/>
        </p:spPr>
      </p:sp>
      <p:sp>
        <p:nvSpPr>
          <p:cNvPr id="10" name="Text 8"/>
          <p:cNvSpPr/>
          <p:nvPr/>
        </p:nvSpPr>
        <p:spPr>
          <a:xfrm>
            <a:off x="3291840" y="713232"/>
            <a:ext cx="2606040" cy="320040"/>
          </a:xfrm>
          <a:prstGeom prst="rect">
            <a:avLst/>
          </a:prstGeom>
          <a:noFill/>
          <a:ln/>
        </p:spPr>
        <p:txBody>
          <a:bodyPr wrap="square" rtlCol="0" anchor="ctr"/>
          <a:lstStyle/>
          <a:p>
            <a:pPr marL="0" indent="0" algn="ctr">
              <a:buNone/>
            </a:pPr>
            <a:r>
              <a:rPr lang="en-US" sz="1400" b="1" dirty="0">
                <a:solidFill>
                  <a:srgbClr val="FFFFFF"/>
                </a:solidFill>
                <a:latin typeface="Century Gothic" pitchFamily="34" charset="0"/>
                <a:ea typeface="Century Gothic" pitchFamily="34" charset="-122"/>
                <a:cs typeface="Century Gothic" pitchFamily="34" charset="-120"/>
              </a:rPr>
              <a:t>Duplicates</a:t>
            </a:r>
            <a:endParaRPr lang="en-US" sz="1400" dirty="0"/>
          </a:p>
        </p:txBody>
      </p:sp>
      <p:sp>
        <p:nvSpPr>
          <p:cNvPr id="11" name="Text 9"/>
          <p:cNvSpPr/>
          <p:nvPr/>
        </p:nvSpPr>
        <p:spPr>
          <a:xfrm>
            <a:off x="3337560" y="1280160"/>
            <a:ext cx="2514600" cy="3108960"/>
          </a:xfrm>
          <a:prstGeom prst="rect">
            <a:avLst/>
          </a:prstGeom>
          <a:noFill/>
          <a:ln/>
        </p:spPr>
        <p:txBody>
          <a:bodyPr wrap="square" rtlCol="0" anchor="ctr"/>
          <a:lstStyle/>
          <a:p>
            <a:pPr marL="0" indent="0">
              <a:buNone/>
            </a:pPr>
            <a:r>
              <a:rPr lang="en-US" sz="1600" dirty="0">
                <a:solidFill>
                  <a:srgbClr val="2C2C2C"/>
                </a:solidFill>
                <a:latin typeface="Times New Roman" panose="02020603050405020304" pitchFamily="18" charset="0"/>
                <a:ea typeface="Calibri" pitchFamily="34" charset="-122"/>
                <a:cs typeface="Times New Roman" panose="02020603050405020304" pitchFamily="18" charset="0"/>
              </a:rPr>
              <a:t>We checked for exact duplicate rows using the duplicated method. We found none. Every market and month combination appears only once. That means the data was already clean at the level we needed.</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6126480" y="640080"/>
            <a:ext cx="2788920" cy="3931920"/>
          </a:xfrm>
          <a:prstGeom prst="roundRect">
            <a:avLst>
              <a:gd name="adj" fmla="val 2623"/>
            </a:avLst>
          </a:prstGeom>
          <a:solidFill>
            <a:srgbClr val="FFFFFF"/>
          </a:solidFill>
          <a:ln/>
          <a:effectLst>
            <a:outerShdw blurRad="50800" dist="12700" dir="16200000" algn="bl" rotWithShape="0">
              <a:srgbClr val="000000">
                <a:alpha val="8000"/>
              </a:srgbClr>
            </a:outerShdw>
          </a:effectLst>
        </p:spPr>
      </p:sp>
      <p:sp>
        <p:nvSpPr>
          <p:cNvPr id="13" name="Shape 11"/>
          <p:cNvSpPr/>
          <p:nvPr/>
        </p:nvSpPr>
        <p:spPr>
          <a:xfrm>
            <a:off x="6126480" y="640080"/>
            <a:ext cx="2788920" cy="457200"/>
          </a:xfrm>
          <a:prstGeom prst="rect">
            <a:avLst/>
          </a:prstGeom>
          <a:solidFill>
            <a:srgbClr val="1D7A4E"/>
          </a:solidFill>
          <a:ln/>
        </p:spPr>
      </p:sp>
      <p:sp>
        <p:nvSpPr>
          <p:cNvPr id="14" name="Text 12"/>
          <p:cNvSpPr/>
          <p:nvPr/>
        </p:nvSpPr>
        <p:spPr>
          <a:xfrm>
            <a:off x="6217920" y="713232"/>
            <a:ext cx="2606040" cy="320040"/>
          </a:xfrm>
          <a:prstGeom prst="rect">
            <a:avLst/>
          </a:prstGeom>
          <a:noFill/>
          <a:ln/>
        </p:spPr>
        <p:txBody>
          <a:bodyPr wrap="square" rtlCol="0" anchor="ctr"/>
          <a:lstStyle/>
          <a:p>
            <a:pPr marL="0" indent="0" algn="ctr">
              <a:buNone/>
            </a:pPr>
            <a:r>
              <a:rPr lang="en-US" sz="1400" b="1" dirty="0">
                <a:solidFill>
                  <a:srgbClr val="FFFFFF"/>
                </a:solidFill>
                <a:latin typeface="Century Gothic" pitchFamily="34" charset="0"/>
                <a:ea typeface="Century Gothic" pitchFamily="34" charset="-122"/>
                <a:cs typeface="Century Gothic" pitchFamily="34" charset="-120"/>
              </a:rPr>
              <a:t>Outliers</a:t>
            </a:r>
            <a:endParaRPr lang="en-US" sz="1400" dirty="0"/>
          </a:p>
        </p:txBody>
      </p:sp>
      <p:sp>
        <p:nvSpPr>
          <p:cNvPr id="15" name="Text 13"/>
          <p:cNvSpPr/>
          <p:nvPr/>
        </p:nvSpPr>
        <p:spPr>
          <a:xfrm>
            <a:off x="6263640" y="1280160"/>
            <a:ext cx="2514600" cy="3108960"/>
          </a:xfrm>
          <a:prstGeom prst="rect">
            <a:avLst/>
          </a:prstGeom>
          <a:noFill/>
          <a:ln/>
        </p:spPr>
        <p:txBody>
          <a:bodyPr wrap="square" rtlCol="0" anchor="ctr"/>
          <a:lstStyle/>
          <a:p>
            <a:pPr marL="0" indent="0">
              <a:buNone/>
            </a:pPr>
            <a:r>
              <a:rPr lang="en-US" sz="1600" dirty="0">
                <a:solidFill>
                  <a:srgbClr val="2C2C2C"/>
                </a:solidFill>
                <a:latin typeface="Times New Roman" panose="02020603050405020304" pitchFamily="18" charset="0"/>
                <a:ea typeface="Calibri" pitchFamily="34" charset="-122"/>
                <a:cs typeface="Times New Roman" panose="02020603050405020304" pitchFamily="18" charset="0"/>
              </a:rPr>
              <a:t>We used the interquartile range rule from Tukey [4] to find outliers in the two targets. Some high prices were flagged. These high prices appear in different years and match times when markets were under stress. We kept them because they look real, not like typing mistakes.</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82880"/>
            <a:ext cx="8229600" cy="320040"/>
          </a:xfrm>
          <a:prstGeom prst="rect">
            <a:avLst/>
          </a:prstGeom>
          <a:noFill/>
          <a:ln/>
        </p:spPr>
        <p:txBody>
          <a:bodyPr wrap="square" rtlCol="0" anchor="ctr"/>
          <a:lstStyle/>
          <a:p>
            <a:pPr marL="0" indent="0">
              <a:buNone/>
            </a:pPr>
            <a:r>
              <a:rPr lang="en-US" sz="2000" b="1" dirty="0">
                <a:solidFill>
                  <a:srgbClr val="1B2A4A"/>
                </a:solidFill>
                <a:latin typeface="Century Gothic" pitchFamily="34" charset="0"/>
                <a:ea typeface="Century Gothic" pitchFamily="34" charset="-122"/>
                <a:cs typeface="Century Gothic" pitchFamily="34" charset="-120"/>
              </a:rPr>
              <a:t>CHANGING THE DATA</a:t>
            </a:r>
            <a:endParaRPr lang="en-US" sz="2000" dirty="0"/>
          </a:p>
        </p:txBody>
      </p:sp>
      <p:sp>
        <p:nvSpPr>
          <p:cNvPr id="4" name="Shape 2"/>
          <p:cNvSpPr/>
          <p:nvPr/>
        </p:nvSpPr>
        <p:spPr>
          <a:xfrm>
            <a:off x="365760" y="480060"/>
            <a:ext cx="4114800" cy="3931920"/>
          </a:xfrm>
          <a:prstGeom prst="roundRect">
            <a:avLst>
              <a:gd name="adj" fmla="val 2326"/>
            </a:avLst>
          </a:prstGeom>
          <a:solidFill>
            <a:srgbClr val="FFFFFF"/>
          </a:solidFill>
          <a:ln/>
          <a:effectLst>
            <a:outerShdw blurRad="50800" dist="12700" dir="16200000" algn="bl" rotWithShape="0">
              <a:srgbClr val="000000">
                <a:alpha val="8000"/>
              </a:srgbClr>
            </a:outerShdw>
          </a:effectLst>
        </p:spPr>
      </p:sp>
      <p:sp>
        <p:nvSpPr>
          <p:cNvPr id="5" name="Shape 3"/>
          <p:cNvSpPr/>
          <p:nvPr/>
        </p:nvSpPr>
        <p:spPr>
          <a:xfrm>
            <a:off x="365760" y="640080"/>
            <a:ext cx="4114800" cy="457200"/>
          </a:xfrm>
          <a:prstGeom prst="rect">
            <a:avLst/>
          </a:prstGeom>
          <a:solidFill>
            <a:srgbClr val="1B2A4A"/>
          </a:solidFill>
          <a:ln/>
        </p:spPr>
      </p:sp>
      <p:sp>
        <p:nvSpPr>
          <p:cNvPr id="6" name="Text 4"/>
          <p:cNvSpPr/>
          <p:nvPr/>
        </p:nvSpPr>
        <p:spPr>
          <a:xfrm>
            <a:off x="502920" y="731520"/>
            <a:ext cx="3840480" cy="320040"/>
          </a:xfrm>
          <a:prstGeom prst="rect">
            <a:avLst/>
          </a:prstGeom>
          <a:noFill/>
          <a:ln/>
        </p:spPr>
        <p:txBody>
          <a:bodyPr wrap="square" rtlCol="0" anchor="ctr"/>
          <a:lstStyle/>
          <a:p>
            <a:pPr marL="0" indent="0">
              <a:buNone/>
            </a:pPr>
            <a:r>
              <a:rPr lang="en-US" sz="1400" b="1" dirty="0">
                <a:solidFill>
                  <a:srgbClr val="FFFFFF"/>
                </a:solidFill>
                <a:latin typeface="Century Gothic" pitchFamily="34" charset="0"/>
                <a:ea typeface="Century Gothic" pitchFamily="34" charset="-122"/>
                <a:cs typeface="Century Gothic" pitchFamily="34" charset="-120"/>
              </a:rPr>
              <a:t>Encoding the Market Names</a:t>
            </a:r>
            <a:endParaRPr lang="en-US" sz="1400" dirty="0"/>
          </a:p>
        </p:txBody>
      </p:sp>
      <p:sp>
        <p:nvSpPr>
          <p:cNvPr id="7" name="Text 5"/>
          <p:cNvSpPr/>
          <p:nvPr/>
        </p:nvSpPr>
        <p:spPr>
          <a:xfrm>
            <a:off x="548640" y="1280160"/>
            <a:ext cx="3749040" cy="1645920"/>
          </a:xfrm>
          <a:prstGeom prst="rect">
            <a:avLst/>
          </a:prstGeom>
          <a:noFill/>
          <a:ln/>
        </p:spPr>
        <p:txBody>
          <a:bodyPr wrap="square" rtlCol="0" anchor="ctr"/>
          <a:lstStyle/>
          <a:p>
            <a:pPr marL="0" indent="0">
              <a:buNone/>
            </a:pPr>
            <a:r>
              <a:rPr lang="en-US" sz="1400" dirty="0">
                <a:solidFill>
                  <a:srgbClr val="2C2C2C"/>
                </a:solidFill>
                <a:latin typeface="Times New Roman" panose="02020603050405020304" pitchFamily="18" charset="0"/>
                <a:ea typeface="Calibri" pitchFamily="34" charset="-122"/>
                <a:cs typeface="Times New Roman" panose="02020603050405020304" pitchFamily="18" charset="0"/>
              </a:rPr>
              <a:t>Market name is just a label. It has no order like low-medium-high. So we used one-hot encoding and dropped the first category. This stops the model from thinking one market is higher than another. It also avoids the dummy variable problem.</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548640" y="3017520"/>
            <a:ext cx="3749040" cy="27432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Why drop the first one?</a:t>
            </a:r>
            <a:endParaRPr lang="en-US" sz="1300" dirty="0"/>
          </a:p>
        </p:txBody>
      </p:sp>
      <p:sp>
        <p:nvSpPr>
          <p:cNvPr id="9" name="Text 7"/>
          <p:cNvSpPr/>
          <p:nvPr/>
        </p:nvSpPr>
        <p:spPr>
          <a:xfrm>
            <a:off x="548640" y="3337560"/>
            <a:ext cx="3749040" cy="1005840"/>
          </a:xfrm>
          <a:prstGeom prst="rect">
            <a:avLst/>
          </a:prstGeom>
          <a:noFill/>
          <a:ln/>
        </p:spPr>
        <p:txBody>
          <a:bodyPr wrap="square" rtlCol="0" anchor="ctr"/>
          <a:lstStyle/>
          <a:p>
            <a:pPr marL="0" indent="0">
              <a:buNone/>
            </a:pPr>
            <a:r>
              <a:rPr lang="en-US" sz="1300" dirty="0">
                <a:solidFill>
                  <a:srgbClr val="2C2C2C"/>
                </a:solidFill>
                <a:latin typeface="Times New Roman" panose="02020603050405020304" pitchFamily="18" charset="0"/>
                <a:ea typeface="Calibri" pitchFamily="34" charset="-122"/>
                <a:cs typeface="Times New Roman" panose="02020603050405020304" pitchFamily="18" charset="0"/>
              </a:rPr>
              <a:t>If you keep all the dummy columns the model can get confused because the columns add up to 1. Dropping one makes the other columns easier to understand.</a:t>
            </a:r>
            <a:endParaRPr lang="en-US" sz="1300" dirty="0">
              <a:latin typeface="Times New Roman" panose="02020603050405020304" pitchFamily="18" charset="0"/>
              <a:cs typeface="Times New Roman" panose="02020603050405020304" pitchFamily="18" charset="0"/>
            </a:endParaRPr>
          </a:p>
        </p:txBody>
      </p:sp>
      <p:sp>
        <p:nvSpPr>
          <p:cNvPr id="10" name="Shape 8"/>
          <p:cNvSpPr/>
          <p:nvPr/>
        </p:nvSpPr>
        <p:spPr>
          <a:xfrm>
            <a:off x="4663440" y="640080"/>
            <a:ext cx="4114800" cy="3931920"/>
          </a:xfrm>
          <a:prstGeom prst="roundRect">
            <a:avLst>
              <a:gd name="adj" fmla="val 2326"/>
            </a:avLst>
          </a:prstGeom>
          <a:solidFill>
            <a:srgbClr val="FFFFFF"/>
          </a:solidFill>
          <a:ln/>
          <a:effectLst>
            <a:outerShdw blurRad="50800" dist="12700" dir="16200000" algn="bl" rotWithShape="0">
              <a:srgbClr val="000000">
                <a:alpha val="8000"/>
              </a:srgbClr>
            </a:outerShdw>
          </a:effectLst>
        </p:spPr>
      </p:sp>
      <p:sp>
        <p:nvSpPr>
          <p:cNvPr id="11" name="Shape 9"/>
          <p:cNvSpPr/>
          <p:nvPr/>
        </p:nvSpPr>
        <p:spPr>
          <a:xfrm>
            <a:off x="4663440" y="640080"/>
            <a:ext cx="4114800" cy="457200"/>
          </a:xfrm>
          <a:prstGeom prst="rect">
            <a:avLst/>
          </a:prstGeom>
          <a:solidFill>
            <a:srgbClr val="0E7C86"/>
          </a:solidFill>
          <a:ln/>
        </p:spPr>
      </p:sp>
      <p:sp>
        <p:nvSpPr>
          <p:cNvPr id="12" name="Text 10"/>
          <p:cNvSpPr/>
          <p:nvPr/>
        </p:nvSpPr>
        <p:spPr>
          <a:xfrm>
            <a:off x="4800600" y="731520"/>
            <a:ext cx="3840480" cy="320040"/>
          </a:xfrm>
          <a:prstGeom prst="rect">
            <a:avLst/>
          </a:prstGeom>
          <a:noFill/>
          <a:ln/>
        </p:spPr>
        <p:txBody>
          <a:bodyPr wrap="square" rtlCol="0" anchor="ctr"/>
          <a:lstStyle/>
          <a:p>
            <a:pPr marL="0" indent="0">
              <a:buNone/>
            </a:pPr>
            <a:r>
              <a:rPr lang="en-US" sz="1400" b="1" dirty="0">
                <a:solidFill>
                  <a:srgbClr val="FFFFFF"/>
                </a:solidFill>
                <a:latin typeface="Century Gothic" pitchFamily="34" charset="0"/>
                <a:ea typeface="Century Gothic" pitchFamily="34" charset="-122"/>
                <a:cs typeface="Century Gothic" pitchFamily="34" charset="-120"/>
              </a:rPr>
              <a:t>Scaling the Numbers</a:t>
            </a:r>
            <a:endParaRPr lang="en-US" sz="1400" dirty="0"/>
          </a:p>
        </p:txBody>
      </p:sp>
      <p:sp>
        <p:nvSpPr>
          <p:cNvPr id="13" name="Text 11"/>
          <p:cNvSpPr/>
          <p:nvPr/>
        </p:nvSpPr>
        <p:spPr>
          <a:xfrm>
            <a:off x="4846320" y="1280160"/>
            <a:ext cx="3749040" cy="1463040"/>
          </a:xfrm>
          <a:prstGeom prst="rect">
            <a:avLst/>
          </a:prstGeom>
          <a:noFill/>
          <a:ln/>
        </p:spPr>
        <p:txBody>
          <a:bodyPr wrap="square" rtlCol="0" anchor="ctr"/>
          <a:lstStyle/>
          <a:p>
            <a:pPr marL="0" indent="0">
              <a:buNone/>
            </a:pPr>
            <a:r>
              <a:rPr lang="en-US" sz="1400" dirty="0">
                <a:solidFill>
                  <a:srgbClr val="2C2C2C"/>
                </a:solidFill>
                <a:latin typeface="Times New Roman" panose="02020603050405020304" pitchFamily="18" charset="0"/>
                <a:ea typeface="Calibri" pitchFamily="34" charset="-122"/>
                <a:cs typeface="Times New Roman" panose="02020603050405020304" pitchFamily="18" charset="0"/>
              </a:rPr>
              <a:t>Prices are in thousands of shillings. Month is only from 1 to 12. If we leave them like that, some algorithms will only look at the big price numbers. We used StandardScaler (Z-score). It puts everything on a similar scale.</a:t>
            </a:r>
            <a:endParaRPr lang="en-US" sz="1400" dirty="0">
              <a:latin typeface="Times New Roman" panose="02020603050405020304" pitchFamily="18" charset="0"/>
              <a:cs typeface="Times New Roman" panose="02020603050405020304" pitchFamily="18" charset="0"/>
            </a:endParaRPr>
          </a:p>
        </p:txBody>
      </p:sp>
      <p:sp>
        <p:nvSpPr>
          <p:cNvPr id="14" name="Text 12"/>
          <p:cNvSpPr/>
          <p:nvPr/>
        </p:nvSpPr>
        <p:spPr>
          <a:xfrm>
            <a:off x="4846320" y="2880360"/>
            <a:ext cx="3749040" cy="27432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Important rule</a:t>
            </a:r>
            <a:endParaRPr lang="en-US" sz="1300" dirty="0"/>
          </a:p>
        </p:txBody>
      </p:sp>
      <p:sp>
        <p:nvSpPr>
          <p:cNvPr id="15" name="Text 13"/>
          <p:cNvSpPr/>
          <p:nvPr/>
        </p:nvSpPr>
        <p:spPr>
          <a:xfrm>
            <a:off x="4846320" y="3200400"/>
            <a:ext cx="3749040" cy="1188720"/>
          </a:xfrm>
          <a:prstGeom prst="rect">
            <a:avLst/>
          </a:prstGeom>
          <a:noFill/>
          <a:ln/>
        </p:spPr>
        <p:txBody>
          <a:bodyPr wrap="square" rtlCol="0" anchor="ctr"/>
          <a:lstStyle/>
          <a:p>
            <a:pPr marL="0" indent="0">
              <a:buNone/>
            </a:pPr>
            <a:r>
              <a:rPr lang="en-US" sz="1300" dirty="0">
                <a:solidFill>
                  <a:srgbClr val="2C2C2C"/>
                </a:solidFill>
                <a:latin typeface="Times New Roman" panose="02020603050405020304" pitchFamily="18" charset="0"/>
                <a:ea typeface="Calibri" pitchFamily="34" charset="-122"/>
                <a:cs typeface="Times New Roman" panose="02020603050405020304" pitchFamily="18" charset="0"/>
              </a:rPr>
              <a:t>We fitted the scaler only on the training data after we split. The guide says this stops data leakage [5]. We chose StandardScaler because it handles the high prices we kept better than MinMax.</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82880"/>
            <a:ext cx="8229600" cy="320040"/>
          </a:xfrm>
          <a:prstGeom prst="rect">
            <a:avLst/>
          </a:prstGeom>
          <a:noFill/>
          <a:ln/>
        </p:spPr>
        <p:txBody>
          <a:bodyPr wrap="square" rtlCol="0" anchor="ctr"/>
          <a:lstStyle/>
          <a:p>
            <a:pPr marL="0" indent="0">
              <a:buNone/>
            </a:pPr>
            <a:r>
              <a:rPr lang="en-US" sz="1800" b="1" dirty="0">
                <a:solidFill>
                  <a:srgbClr val="1B2A4A"/>
                </a:solidFill>
                <a:latin typeface="Century Gothic" pitchFamily="34" charset="0"/>
                <a:ea typeface="Century Gothic" pitchFamily="34" charset="-122"/>
                <a:cs typeface="Century Gothic" pitchFamily="34" charset="-120"/>
              </a:rPr>
              <a:t>CUTTING FEATURES AND SPLITTING</a:t>
            </a:r>
            <a:endParaRPr lang="en-US" sz="1800" dirty="0"/>
          </a:p>
        </p:txBody>
      </p:sp>
      <p:sp>
        <p:nvSpPr>
          <p:cNvPr id="4" name="Shape 2"/>
          <p:cNvSpPr/>
          <p:nvPr/>
        </p:nvSpPr>
        <p:spPr>
          <a:xfrm>
            <a:off x="365760" y="640080"/>
            <a:ext cx="8412480" cy="1371600"/>
          </a:xfrm>
          <a:prstGeom prst="roundRect">
            <a:avLst>
              <a:gd name="adj" fmla="val 5333"/>
            </a:avLst>
          </a:prstGeom>
          <a:solidFill>
            <a:srgbClr val="E6F4F5"/>
          </a:solidFill>
          <a:ln/>
        </p:spPr>
      </p:sp>
      <p:sp>
        <p:nvSpPr>
          <p:cNvPr id="5" name="Text 3"/>
          <p:cNvSpPr/>
          <p:nvPr/>
        </p:nvSpPr>
        <p:spPr>
          <a:xfrm>
            <a:off x="548640" y="777240"/>
            <a:ext cx="8046720" cy="274320"/>
          </a:xfrm>
          <a:prstGeom prst="rect">
            <a:avLst/>
          </a:prstGeom>
          <a:noFill/>
          <a:ln/>
        </p:spPr>
        <p:txBody>
          <a:bodyPr wrap="square" rtlCol="0" anchor="ctr"/>
          <a:lstStyle/>
          <a:p>
            <a:pPr marL="0" indent="0">
              <a:buNone/>
            </a:pPr>
            <a:r>
              <a:rPr lang="en-US" sz="1400" b="1" dirty="0">
                <a:solidFill>
                  <a:srgbClr val="1B2A4A"/>
                </a:solidFill>
                <a:latin typeface="Century Gothic" pitchFamily="34" charset="0"/>
                <a:ea typeface="Century Gothic" pitchFamily="34" charset="-122"/>
                <a:cs typeface="Century Gothic" pitchFamily="34" charset="-120"/>
              </a:rPr>
              <a:t>What the numbers told us</a:t>
            </a:r>
            <a:endParaRPr lang="en-US" sz="1400" dirty="0"/>
          </a:p>
        </p:txBody>
      </p:sp>
      <p:sp>
        <p:nvSpPr>
          <p:cNvPr id="6" name="Text 4"/>
          <p:cNvSpPr/>
          <p:nvPr/>
        </p:nvSpPr>
        <p:spPr>
          <a:xfrm>
            <a:off x="548640" y="1143000"/>
            <a:ext cx="8046720" cy="731520"/>
          </a:xfrm>
          <a:prstGeom prst="rect">
            <a:avLst/>
          </a:prstGeom>
          <a:noFill/>
          <a:ln/>
        </p:spPr>
        <p:txBody>
          <a:bodyPr wrap="square" rtlCol="0" anchor="ctr"/>
          <a:lstStyle/>
          <a:p>
            <a:pPr marL="0" indent="0">
              <a:buNone/>
            </a:pPr>
            <a:r>
              <a:rPr lang="en-US" sz="1400" dirty="0">
                <a:solidFill>
                  <a:srgbClr val="2C2C2C"/>
                </a:solidFill>
                <a:latin typeface="Times New Roman" panose="02020603050405020304" pitchFamily="18" charset="0"/>
                <a:ea typeface="Calibri" pitchFamily="34" charset="-122"/>
                <a:cs typeface="Times New Roman" panose="02020603050405020304" pitchFamily="18" charset="0"/>
              </a:rPr>
              <a:t>Maize and beans prices move up and down together. Both also go up with the food price index and with the year. We only had a small number of features (less than twenty). We tried PCA and saw that a few components could explain 95% of the variance. In the end we did not use PCA because the original features are easy to understand.</a:t>
            </a:r>
            <a:endParaRPr lang="en-US" sz="1400" dirty="0">
              <a:latin typeface="Times New Roman" panose="02020603050405020304" pitchFamily="18" charset="0"/>
              <a:cs typeface="Times New Roman" panose="02020603050405020304" pitchFamily="18" charset="0"/>
            </a:endParaRPr>
          </a:p>
        </p:txBody>
      </p:sp>
      <p:sp>
        <p:nvSpPr>
          <p:cNvPr id="7" name="Shape 5"/>
          <p:cNvSpPr/>
          <p:nvPr/>
        </p:nvSpPr>
        <p:spPr>
          <a:xfrm>
            <a:off x="365760" y="2286000"/>
            <a:ext cx="2743200" cy="2286000"/>
          </a:xfrm>
          <a:prstGeom prst="roundRect">
            <a:avLst>
              <a:gd name="adj" fmla="val 3200"/>
            </a:avLst>
          </a:prstGeom>
          <a:solidFill>
            <a:srgbClr val="FFFFFF"/>
          </a:solidFill>
          <a:ln/>
          <a:effectLst>
            <a:outerShdw blurRad="50800" dist="12700" dir="16200000" algn="bl" rotWithShape="0">
              <a:srgbClr val="000000">
                <a:alpha val="8000"/>
              </a:srgbClr>
            </a:outerShdw>
          </a:effectLst>
        </p:spPr>
      </p:sp>
      <p:sp>
        <p:nvSpPr>
          <p:cNvPr id="8" name="Text 6"/>
          <p:cNvSpPr/>
          <p:nvPr/>
        </p:nvSpPr>
        <p:spPr>
          <a:xfrm>
            <a:off x="502920" y="2468880"/>
            <a:ext cx="2468880" cy="365760"/>
          </a:xfrm>
          <a:prstGeom prst="rect">
            <a:avLst/>
          </a:prstGeom>
          <a:noFill/>
          <a:ln/>
        </p:spPr>
        <p:txBody>
          <a:bodyPr wrap="square" rtlCol="0" anchor="ctr"/>
          <a:lstStyle/>
          <a:p>
            <a:pPr marL="0" indent="0">
              <a:buNone/>
            </a:pPr>
            <a:r>
              <a:rPr lang="en-US" sz="1400" b="1" dirty="0">
                <a:solidFill>
                  <a:srgbClr val="1B2A4A"/>
                </a:solidFill>
                <a:latin typeface="Century Gothic" pitchFamily="34" charset="0"/>
                <a:ea typeface="Century Gothic" pitchFamily="34" charset="-122"/>
                <a:cs typeface="Century Gothic" pitchFamily="34" charset="-120"/>
              </a:rPr>
              <a:t>How we split</a:t>
            </a:r>
            <a:endParaRPr lang="en-US" sz="1400" dirty="0"/>
          </a:p>
        </p:txBody>
      </p:sp>
      <p:sp>
        <p:nvSpPr>
          <p:cNvPr id="9" name="Text 7"/>
          <p:cNvSpPr/>
          <p:nvPr/>
        </p:nvSpPr>
        <p:spPr>
          <a:xfrm>
            <a:off x="502920" y="2926080"/>
            <a:ext cx="2468880" cy="1463040"/>
          </a:xfrm>
          <a:prstGeom prst="rect">
            <a:avLst/>
          </a:prstGeom>
          <a:noFill/>
          <a:ln/>
        </p:spPr>
        <p:txBody>
          <a:bodyPr wrap="square" rtlCol="0" anchor="ctr"/>
          <a:lstStyle/>
          <a:p>
            <a:pPr marL="0" indent="0">
              <a:buNone/>
            </a:pPr>
            <a:r>
              <a:rPr lang="en-US" sz="1400" dirty="0">
                <a:solidFill>
                  <a:srgbClr val="2C2C2C"/>
                </a:solidFill>
                <a:latin typeface="Times New Roman" panose="02020603050405020304" pitchFamily="18" charset="0"/>
                <a:ea typeface="Calibri" pitchFamily="34" charset="-122"/>
                <a:cs typeface="Times New Roman" panose="02020603050405020304" pitchFamily="18" charset="0"/>
              </a:rPr>
              <a:t>We used an 80/20 train-test split. We set random_state to 42 so the split is the same every time we run the notebook. Because this is regression we did not need any class balance methods.</a:t>
            </a:r>
            <a:endParaRPr lang="en-US" sz="1400" dirty="0">
              <a:latin typeface="Times New Roman" panose="02020603050405020304" pitchFamily="18" charset="0"/>
              <a:cs typeface="Times New Roman" panose="02020603050405020304" pitchFamily="18" charset="0"/>
            </a:endParaRPr>
          </a:p>
        </p:txBody>
      </p:sp>
      <p:sp>
        <p:nvSpPr>
          <p:cNvPr id="10" name="Shape 8"/>
          <p:cNvSpPr/>
          <p:nvPr/>
        </p:nvSpPr>
        <p:spPr>
          <a:xfrm>
            <a:off x="3246120" y="2286000"/>
            <a:ext cx="2743200" cy="2286000"/>
          </a:xfrm>
          <a:prstGeom prst="roundRect">
            <a:avLst>
              <a:gd name="adj" fmla="val 3200"/>
            </a:avLst>
          </a:prstGeom>
          <a:solidFill>
            <a:srgbClr val="FFFFFF"/>
          </a:solidFill>
          <a:ln/>
          <a:effectLst>
            <a:outerShdw blurRad="50800" dist="12700" dir="16200000" algn="bl" rotWithShape="0">
              <a:srgbClr val="000000">
                <a:alpha val="8000"/>
              </a:srgbClr>
            </a:outerShdw>
          </a:effectLst>
        </p:spPr>
      </p:sp>
      <p:sp>
        <p:nvSpPr>
          <p:cNvPr id="11" name="Text 9"/>
          <p:cNvSpPr/>
          <p:nvPr/>
        </p:nvSpPr>
        <p:spPr>
          <a:xfrm>
            <a:off x="3383280" y="2468880"/>
            <a:ext cx="2468880" cy="365760"/>
          </a:xfrm>
          <a:prstGeom prst="rect">
            <a:avLst/>
          </a:prstGeom>
          <a:noFill/>
          <a:ln/>
        </p:spPr>
        <p:txBody>
          <a:bodyPr wrap="square" rtlCol="0" anchor="ctr"/>
          <a:lstStyle/>
          <a:p>
            <a:pPr marL="0" indent="0">
              <a:buNone/>
            </a:pPr>
            <a:r>
              <a:rPr lang="en-US" sz="1400" b="1" dirty="0">
                <a:solidFill>
                  <a:srgbClr val="1B2A4A"/>
                </a:solidFill>
                <a:latin typeface="Century Gothic" pitchFamily="34" charset="0"/>
                <a:ea typeface="Century Gothic" pitchFamily="34" charset="-122"/>
                <a:cs typeface="Century Gothic" pitchFamily="34" charset="-120"/>
              </a:rPr>
              <a:t>Why 80/20</a:t>
            </a:r>
            <a:endParaRPr lang="en-US" sz="1400" dirty="0"/>
          </a:p>
        </p:txBody>
      </p:sp>
      <p:sp>
        <p:nvSpPr>
          <p:cNvPr id="12" name="Text 10"/>
          <p:cNvSpPr/>
          <p:nvPr/>
        </p:nvSpPr>
        <p:spPr>
          <a:xfrm>
            <a:off x="3383280" y="2926080"/>
            <a:ext cx="2468880" cy="1463040"/>
          </a:xfrm>
          <a:prstGeom prst="rect">
            <a:avLst/>
          </a:prstGeom>
          <a:noFill/>
          <a:ln/>
        </p:spPr>
        <p:txBody>
          <a:bodyPr wrap="square" rtlCol="0" anchor="ctr"/>
          <a:lstStyle/>
          <a:p>
            <a:pPr marL="0" indent="0">
              <a:buNone/>
            </a:pPr>
            <a:r>
              <a:rPr lang="en-US" sz="1400" dirty="0">
                <a:solidFill>
                  <a:srgbClr val="2C2C2C"/>
                </a:solidFill>
                <a:latin typeface="Times New Roman" panose="02020603050405020304" pitchFamily="18" charset="0"/>
                <a:ea typeface="Calibri" pitchFamily="34" charset="-122"/>
                <a:cs typeface="Times New Roman" panose="02020603050405020304" pitchFamily="18" charset="0"/>
              </a:rPr>
              <a:t>Eighty percent gives the model enough rows to learn. Twenty percent is still big enough to test the model on months and markets it has not seen.</a:t>
            </a:r>
            <a:endParaRPr lang="en-US" sz="1400" dirty="0">
              <a:latin typeface="Times New Roman" panose="02020603050405020304" pitchFamily="18" charset="0"/>
              <a:cs typeface="Times New Roman" panose="02020603050405020304" pitchFamily="18" charset="0"/>
            </a:endParaRPr>
          </a:p>
        </p:txBody>
      </p:sp>
      <p:sp>
        <p:nvSpPr>
          <p:cNvPr id="13" name="Shape 11"/>
          <p:cNvSpPr/>
          <p:nvPr/>
        </p:nvSpPr>
        <p:spPr>
          <a:xfrm>
            <a:off x="6126480" y="2286000"/>
            <a:ext cx="2743200" cy="2286000"/>
          </a:xfrm>
          <a:prstGeom prst="roundRect">
            <a:avLst>
              <a:gd name="adj" fmla="val 3200"/>
            </a:avLst>
          </a:prstGeom>
          <a:solidFill>
            <a:srgbClr val="FFFFFF"/>
          </a:solidFill>
          <a:ln/>
          <a:effectLst>
            <a:outerShdw blurRad="50800" dist="12700" dir="16200000" algn="bl" rotWithShape="0">
              <a:srgbClr val="000000">
                <a:alpha val="8000"/>
              </a:srgbClr>
            </a:outerShdw>
          </a:effectLst>
        </p:spPr>
      </p:sp>
      <p:sp>
        <p:nvSpPr>
          <p:cNvPr id="14" name="Text 12"/>
          <p:cNvSpPr/>
          <p:nvPr/>
        </p:nvSpPr>
        <p:spPr>
          <a:xfrm>
            <a:off x="6263640" y="2468880"/>
            <a:ext cx="2468880" cy="365760"/>
          </a:xfrm>
          <a:prstGeom prst="rect">
            <a:avLst/>
          </a:prstGeom>
          <a:noFill/>
          <a:ln/>
        </p:spPr>
        <p:txBody>
          <a:bodyPr wrap="square" rtlCol="0" anchor="ctr"/>
          <a:lstStyle/>
          <a:p>
            <a:pPr marL="0" indent="0">
              <a:buNone/>
            </a:pPr>
            <a:r>
              <a:rPr lang="en-US" sz="1400" b="1" dirty="0">
                <a:solidFill>
                  <a:srgbClr val="1B2A4A"/>
                </a:solidFill>
                <a:latin typeface="Century Gothic" pitchFamily="34" charset="0"/>
                <a:ea typeface="Century Gothic" pitchFamily="34" charset="-122"/>
                <a:cs typeface="Century Gothic" pitchFamily="34" charset="-120"/>
              </a:rPr>
              <a:t>Same result every time</a:t>
            </a:r>
            <a:endParaRPr lang="en-US" sz="1400" dirty="0"/>
          </a:p>
        </p:txBody>
      </p:sp>
      <p:sp>
        <p:nvSpPr>
          <p:cNvPr id="15" name="Text 13"/>
          <p:cNvSpPr/>
          <p:nvPr/>
        </p:nvSpPr>
        <p:spPr>
          <a:xfrm>
            <a:off x="6263640" y="2926080"/>
            <a:ext cx="2468880" cy="1463040"/>
          </a:xfrm>
          <a:prstGeom prst="rect">
            <a:avLst/>
          </a:prstGeom>
          <a:noFill/>
          <a:ln/>
        </p:spPr>
        <p:txBody>
          <a:bodyPr wrap="square" rtlCol="0" anchor="ctr"/>
          <a:lstStyle/>
          <a:p>
            <a:pPr marL="0" indent="0">
              <a:buNone/>
            </a:pPr>
            <a:r>
              <a:rPr lang="en-US" sz="1400" dirty="0">
                <a:solidFill>
                  <a:srgbClr val="2C2C2C"/>
                </a:solidFill>
                <a:latin typeface="Times New Roman" panose="02020603050405020304" pitchFamily="18" charset="0"/>
                <a:ea typeface="Calibri" pitchFamily="34" charset="-122"/>
                <a:cs typeface="Times New Roman" panose="02020603050405020304" pitchFamily="18" charset="0"/>
              </a:rPr>
              <a:t>Using a fixed random_state means anyone who opens our notebook gets the same training and test sets. That makes later model comparisons fair.</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365760" y="182880"/>
            <a:ext cx="8412480" cy="320040"/>
          </a:xfrm>
          <a:prstGeom prst="rect">
            <a:avLst/>
          </a:prstGeom>
          <a:noFill/>
          <a:ln/>
        </p:spPr>
        <p:txBody>
          <a:bodyPr wrap="square" rtlCol="0" anchor="ctr"/>
          <a:lstStyle/>
          <a:p>
            <a:pPr marL="0" indent="0">
              <a:buNone/>
            </a:pPr>
            <a:r>
              <a:rPr lang="en-US" sz="1700" b="1" dirty="0">
                <a:solidFill>
                  <a:srgbClr val="1B2A4A"/>
                </a:solidFill>
                <a:latin typeface="Century Gothic" pitchFamily="34" charset="0"/>
                <a:ea typeface="Century Gothic" pitchFamily="34" charset="-122"/>
                <a:cs typeface="Century Gothic" pitchFamily="34" charset="-120"/>
              </a:rPr>
              <a:t>LOOKING AT THE DATA – FIRST PART</a:t>
            </a:r>
            <a:endParaRPr lang="en-US" sz="1700" dirty="0"/>
          </a:p>
        </p:txBody>
      </p:sp>
      <p:sp>
        <p:nvSpPr>
          <p:cNvPr id="5" name="Shape 3"/>
          <p:cNvSpPr/>
          <p:nvPr/>
        </p:nvSpPr>
        <p:spPr>
          <a:xfrm>
            <a:off x="228600" y="708660"/>
            <a:ext cx="4114800" cy="3383280"/>
          </a:xfrm>
          <a:prstGeom prst="roundRect">
            <a:avLst>
              <a:gd name="adj" fmla="val 2703"/>
            </a:avLst>
          </a:prstGeom>
          <a:solidFill>
            <a:srgbClr val="FFFFFF"/>
          </a:solidFill>
          <a:ln/>
          <a:effectLst>
            <a:outerShdw blurRad="50800" dist="12700" dir="16200000" algn="bl" rotWithShape="0">
              <a:srgbClr val="000000">
                <a:alpha val="8000"/>
              </a:srgbClr>
            </a:outerShdw>
          </a:effectLst>
        </p:spPr>
      </p:sp>
      <p:sp>
        <p:nvSpPr>
          <p:cNvPr id="6" name="Shape 4"/>
          <p:cNvSpPr/>
          <p:nvPr/>
        </p:nvSpPr>
        <p:spPr>
          <a:xfrm>
            <a:off x="228600" y="713232"/>
            <a:ext cx="4114800" cy="411480"/>
          </a:xfrm>
          <a:prstGeom prst="rect">
            <a:avLst/>
          </a:prstGeom>
          <a:solidFill>
            <a:srgbClr val="1B2A4A"/>
          </a:solidFill>
          <a:ln/>
        </p:spPr>
      </p:sp>
      <p:sp>
        <p:nvSpPr>
          <p:cNvPr id="7" name="Text 5"/>
          <p:cNvSpPr/>
          <p:nvPr/>
        </p:nvSpPr>
        <p:spPr>
          <a:xfrm>
            <a:off x="960120" y="754380"/>
            <a:ext cx="3840480" cy="274320"/>
          </a:xfrm>
          <a:prstGeom prst="rect">
            <a:avLst/>
          </a:prstGeom>
          <a:noFill/>
          <a:ln/>
        </p:spPr>
        <p:txBody>
          <a:bodyPr wrap="square" rtlCol="0" anchor="ctr"/>
          <a:lstStyle/>
          <a:p>
            <a:pPr marL="0" indent="0">
              <a:buNone/>
            </a:pPr>
            <a:r>
              <a:rPr lang="en-US" sz="1400" b="1" dirty="0">
                <a:solidFill>
                  <a:srgbClr val="FFFFFF"/>
                </a:solidFill>
                <a:latin typeface="Century Gothic" pitchFamily="34" charset="0"/>
                <a:ea typeface="Century Gothic" pitchFamily="34" charset="-122"/>
                <a:cs typeface="Century Gothic" pitchFamily="34" charset="-120"/>
              </a:rPr>
              <a:t>Descriptive Statistics</a:t>
            </a:r>
            <a:endParaRPr lang="en-US" sz="1400" dirty="0"/>
          </a:p>
        </p:txBody>
      </p:sp>
      <p:sp>
        <p:nvSpPr>
          <p:cNvPr id="8" name="Text 6"/>
          <p:cNvSpPr/>
          <p:nvPr/>
        </p:nvSpPr>
        <p:spPr>
          <a:xfrm>
            <a:off x="548640" y="1188720"/>
            <a:ext cx="3749040" cy="2057400"/>
          </a:xfrm>
          <a:prstGeom prst="rect">
            <a:avLst/>
          </a:prstGeom>
          <a:noFill/>
          <a:ln/>
        </p:spPr>
        <p:txBody>
          <a:bodyPr wrap="square" rtlCol="0" anchor="ctr"/>
          <a:lstStyle/>
          <a:p>
            <a:pPr marL="0" indent="0">
              <a:buNone/>
            </a:pPr>
            <a:r>
              <a:rPr lang="en-US" sz="1500" dirty="0">
                <a:solidFill>
                  <a:srgbClr val="2C2C2C"/>
                </a:solidFill>
                <a:latin typeface="Times New Roman" panose="02020603050405020304" pitchFamily="18" charset="0"/>
                <a:ea typeface="Calibri" pitchFamily="34" charset="-122"/>
                <a:cs typeface="Times New Roman" panose="02020603050405020304" pitchFamily="18" charset="0"/>
              </a:rPr>
              <a:t>Both target series are skewed to the right. The mean is higher than the median because of a long tail of high prices. This is normal for market prices. It tells us that later we should look at error measures that do not get hurt by big mistakes, or maybe use a log transform.</a:t>
            </a:r>
            <a:endParaRPr lang="en-US" sz="1500" dirty="0">
              <a:latin typeface="Times New Roman" panose="02020603050405020304" pitchFamily="18" charset="0"/>
              <a:cs typeface="Times New Roman" panose="02020603050405020304" pitchFamily="18" charset="0"/>
            </a:endParaRPr>
          </a:p>
        </p:txBody>
      </p:sp>
      <p:sp>
        <p:nvSpPr>
          <p:cNvPr id="9" name="Text 7"/>
          <p:cNvSpPr/>
          <p:nvPr/>
        </p:nvSpPr>
        <p:spPr>
          <a:xfrm>
            <a:off x="548640" y="3383280"/>
            <a:ext cx="3749040" cy="27432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What this means for models</a:t>
            </a:r>
            <a:endParaRPr lang="en-US" sz="1300" dirty="0"/>
          </a:p>
        </p:txBody>
      </p:sp>
      <p:sp>
        <p:nvSpPr>
          <p:cNvPr id="10" name="Text 8"/>
          <p:cNvSpPr/>
          <p:nvPr/>
        </p:nvSpPr>
        <p:spPr>
          <a:xfrm>
            <a:off x="548640" y="3703320"/>
            <a:ext cx="3749040" cy="685800"/>
          </a:xfrm>
          <a:prstGeom prst="rect">
            <a:avLst/>
          </a:prstGeom>
          <a:noFill/>
          <a:ln/>
        </p:spPr>
        <p:txBody>
          <a:bodyPr wrap="square" rtlCol="0" anchor="ctr"/>
          <a:lstStyle/>
          <a:p>
            <a:pPr marL="0" indent="0">
              <a:buNone/>
            </a:pPr>
            <a:r>
              <a:rPr lang="en-US" sz="1200" dirty="0">
                <a:solidFill>
                  <a:srgbClr val="2C2C2C"/>
                </a:solidFill>
                <a:latin typeface="Calibri" pitchFamily="34" charset="0"/>
                <a:ea typeface="Calibri" pitchFamily="34" charset="-122"/>
                <a:cs typeface="Calibri" pitchFamily="34" charset="-120"/>
              </a:rPr>
              <a:t>Mean absolute error or median absolute error will work better than metrics that assume the errors are even on both sides.</a:t>
            </a:r>
            <a:endParaRPr lang="en-US" sz="1200" dirty="0"/>
          </a:p>
        </p:txBody>
      </p:sp>
      <p:sp>
        <p:nvSpPr>
          <p:cNvPr id="11" name="Shape 9"/>
          <p:cNvSpPr/>
          <p:nvPr/>
        </p:nvSpPr>
        <p:spPr>
          <a:xfrm>
            <a:off x="4663440" y="746760"/>
            <a:ext cx="4114800" cy="3383280"/>
          </a:xfrm>
          <a:prstGeom prst="roundRect">
            <a:avLst>
              <a:gd name="adj" fmla="val 2703"/>
            </a:avLst>
          </a:prstGeom>
          <a:solidFill>
            <a:srgbClr val="FFFFFF"/>
          </a:solidFill>
          <a:ln/>
          <a:effectLst>
            <a:outerShdw blurRad="50800" dist="12700" dir="16200000" algn="bl" rotWithShape="0">
              <a:srgbClr val="000000">
                <a:alpha val="8000"/>
              </a:srgbClr>
            </a:outerShdw>
          </a:effectLst>
        </p:spPr>
      </p:sp>
      <p:sp>
        <p:nvSpPr>
          <p:cNvPr id="12" name="Shape 10"/>
          <p:cNvSpPr/>
          <p:nvPr/>
        </p:nvSpPr>
        <p:spPr>
          <a:xfrm>
            <a:off x="4663440" y="777240"/>
            <a:ext cx="4114800" cy="411480"/>
          </a:xfrm>
          <a:prstGeom prst="rect">
            <a:avLst/>
          </a:prstGeom>
          <a:solidFill>
            <a:srgbClr val="0E7C86"/>
          </a:solidFill>
          <a:ln/>
        </p:spPr>
      </p:sp>
      <p:sp>
        <p:nvSpPr>
          <p:cNvPr id="13" name="Text 11"/>
          <p:cNvSpPr/>
          <p:nvPr/>
        </p:nvSpPr>
        <p:spPr>
          <a:xfrm>
            <a:off x="4846320" y="873252"/>
            <a:ext cx="3840480" cy="274320"/>
          </a:xfrm>
          <a:prstGeom prst="rect">
            <a:avLst/>
          </a:prstGeom>
          <a:noFill/>
          <a:ln/>
        </p:spPr>
        <p:txBody>
          <a:bodyPr wrap="square" rtlCol="0" anchor="ctr"/>
          <a:lstStyle/>
          <a:p>
            <a:pPr marL="0" indent="0">
              <a:buNone/>
            </a:pPr>
            <a:r>
              <a:rPr lang="en-US" sz="1400" b="1" dirty="0">
                <a:solidFill>
                  <a:srgbClr val="FFFFFF"/>
                </a:solidFill>
                <a:latin typeface="Century Gothic" pitchFamily="34" charset="0"/>
                <a:ea typeface="Century Gothic" pitchFamily="34" charset="-122"/>
                <a:cs typeface="Century Gothic" pitchFamily="34" charset="-120"/>
              </a:rPr>
              <a:t>Univariate Charts</a:t>
            </a:r>
            <a:endParaRPr lang="en-US" sz="1400" dirty="0"/>
          </a:p>
        </p:txBody>
      </p:sp>
      <p:sp>
        <p:nvSpPr>
          <p:cNvPr id="14" name="Text 12"/>
          <p:cNvSpPr/>
          <p:nvPr/>
        </p:nvSpPr>
        <p:spPr>
          <a:xfrm>
            <a:off x="4846320" y="1219200"/>
            <a:ext cx="3749040" cy="2118360"/>
          </a:xfrm>
          <a:prstGeom prst="rect">
            <a:avLst/>
          </a:prstGeom>
          <a:noFill/>
          <a:ln/>
        </p:spPr>
        <p:txBody>
          <a:bodyPr wrap="square" rtlCol="0" anchor="ctr"/>
          <a:lstStyle/>
          <a:p>
            <a:pPr marL="0" indent="0">
              <a:buNone/>
            </a:pPr>
            <a:r>
              <a:rPr lang="en-US" sz="1500" dirty="0">
                <a:solidFill>
                  <a:srgbClr val="2C2C2C"/>
                </a:solidFill>
                <a:latin typeface="Times New Roman" panose="02020603050405020304" pitchFamily="18" charset="0"/>
                <a:ea typeface="Calibri" pitchFamily="34" charset="-122"/>
                <a:cs typeface="Times New Roman" panose="02020603050405020304" pitchFamily="18" charset="0"/>
              </a:rPr>
              <a:t>Figure 1 shows the histograms of the two targets. Both peak on the left side and stretch out to the right. Figure 2 shows the box plots. The points outside the whiskers are the same high prices we decided to keep during cleaning.</a:t>
            </a:r>
            <a:endParaRPr lang="en-US" sz="1500" dirty="0">
              <a:latin typeface="Times New Roman" panose="02020603050405020304" pitchFamily="18" charset="0"/>
              <a:cs typeface="Times New Roman" panose="02020603050405020304" pitchFamily="18" charset="0"/>
            </a:endParaRPr>
          </a:p>
        </p:txBody>
      </p:sp>
      <p:sp>
        <p:nvSpPr>
          <p:cNvPr id="15" name="Text 13"/>
          <p:cNvSpPr/>
          <p:nvPr/>
        </p:nvSpPr>
        <p:spPr>
          <a:xfrm>
            <a:off x="4846320" y="3474720"/>
            <a:ext cx="3749040" cy="27432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What the pictures show</a:t>
            </a:r>
            <a:endParaRPr lang="en-US" sz="1300" dirty="0"/>
          </a:p>
        </p:txBody>
      </p:sp>
      <p:sp>
        <p:nvSpPr>
          <p:cNvPr id="16" name="Text 14"/>
          <p:cNvSpPr/>
          <p:nvPr/>
        </p:nvSpPr>
        <p:spPr>
          <a:xfrm>
            <a:off x="4846320" y="3794760"/>
            <a:ext cx="3749040" cy="594360"/>
          </a:xfrm>
          <a:prstGeom prst="rect">
            <a:avLst/>
          </a:prstGeom>
          <a:noFill/>
          <a:ln/>
        </p:spPr>
        <p:txBody>
          <a:bodyPr wrap="square" rtlCol="0" anchor="ctr"/>
          <a:lstStyle/>
          <a:p>
            <a:pPr marL="0" indent="0">
              <a:buNone/>
            </a:pPr>
            <a:r>
              <a:rPr lang="en-US" sz="1200" dirty="0">
                <a:solidFill>
                  <a:srgbClr val="2C2C2C"/>
                </a:solidFill>
                <a:latin typeface="Calibri" pitchFamily="34" charset="0"/>
                <a:ea typeface="Calibri" pitchFamily="34" charset="-122"/>
                <a:cs typeface="Calibri" pitchFamily="34" charset="-120"/>
              </a:rPr>
              <a:t>The right skew and the high-price points appear for both crops and across the different markets.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365760" y="182880"/>
            <a:ext cx="8412480" cy="320040"/>
          </a:xfrm>
          <a:prstGeom prst="rect">
            <a:avLst/>
          </a:prstGeom>
          <a:noFill/>
          <a:ln/>
        </p:spPr>
        <p:txBody>
          <a:bodyPr wrap="square" rtlCol="0" anchor="ctr"/>
          <a:lstStyle/>
          <a:p>
            <a:pPr marL="0" indent="0">
              <a:buNone/>
            </a:pPr>
            <a:r>
              <a:rPr lang="en-US" sz="1800" b="1" dirty="0">
                <a:solidFill>
                  <a:srgbClr val="1B2A4A"/>
                </a:solidFill>
                <a:latin typeface="Century Gothic" pitchFamily="34" charset="0"/>
                <a:ea typeface="Century Gothic" pitchFamily="34" charset="-122"/>
                <a:cs typeface="Century Gothic" pitchFamily="34" charset="-120"/>
              </a:rPr>
              <a:t>MORE LOOKS AT THE DATA</a:t>
            </a:r>
            <a:endParaRPr lang="en-US" sz="1800" dirty="0"/>
          </a:p>
        </p:txBody>
      </p:sp>
      <p:sp>
        <p:nvSpPr>
          <p:cNvPr id="4" name="Shape 2"/>
          <p:cNvSpPr/>
          <p:nvPr/>
        </p:nvSpPr>
        <p:spPr>
          <a:xfrm>
            <a:off x="274320" y="640080"/>
            <a:ext cx="8595360" cy="1280160"/>
          </a:xfrm>
          <a:prstGeom prst="roundRect">
            <a:avLst>
              <a:gd name="adj" fmla="val 5714"/>
            </a:avLst>
          </a:prstGeom>
          <a:solidFill>
            <a:srgbClr val="FFFFFF"/>
          </a:solidFill>
          <a:ln/>
          <a:effectLst>
            <a:outerShdw blurRad="38100" dist="12700" dir="16200000" algn="bl" rotWithShape="0">
              <a:srgbClr val="000000">
                <a:alpha val="7000"/>
              </a:srgbClr>
            </a:outerShdw>
          </a:effectLst>
        </p:spPr>
      </p:sp>
      <p:sp>
        <p:nvSpPr>
          <p:cNvPr id="5" name="Text 3"/>
          <p:cNvSpPr/>
          <p:nvPr/>
        </p:nvSpPr>
        <p:spPr>
          <a:xfrm>
            <a:off x="457200" y="777240"/>
            <a:ext cx="8229600" cy="274320"/>
          </a:xfrm>
          <a:prstGeom prst="rect">
            <a:avLst/>
          </a:prstGeom>
          <a:noFill/>
          <a:ln/>
        </p:spPr>
        <p:txBody>
          <a:bodyPr wrap="square" rtlCol="0" anchor="ctr"/>
          <a:lstStyle/>
          <a:p>
            <a:pPr marL="0" indent="0">
              <a:buNone/>
            </a:pPr>
            <a:r>
              <a:rPr lang="en-US" sz="1400" b="1" dirty="0">
                <a:solidFill>
                  <a:srgbClr val="1B2A4A"/>
                </a:solidFill>
                <a:latin typeface="Century Gothic" pitchFamily="34" charset="0"/>
                <a:ea typeface="Century Gothic" pitchFamily="34" charset="-122"/>
                <a:cs typeface="Century Gothic" pitchFamily="34" charset="-120"/>
              </a:rPr>
              <a:t>Bivariate and Multivariate</a:t>
            </a:r>
            <a:endParaRPr lang="en-US" sz="1400" dirty="0"/>
          </a:p>
        </p:txBody>
      </p:sp>
      <p:sp>
        <p:nvSpPr>
          <p:cNvPr id="6" name="Text 4"/>
          <p:cNvSpPr/>
          <p:nvPr/>
        </p:nvSpPr>
        <p:spPr>
          <a:xfrm>
            <a:off x="457200" y="1143000"/>
            <a:ext cx="8229600" cy="640080"/>
          </a:xfrm>
          <a:prstGeom prst="rect">
            <a:avLst/>
          </a:prstGeom>
          <a:noFill/>
          <a:ln/>
        </p:spPr>
        <p:txBody>
          <a:bodyPr wrap="square" rtlCol="0" anchor="ctr"/>
          <a:lstStyle/>
          <a:p>
            <a:pPr marL="0" indent="0">
              <a:buNone/>
            </a:pPr>
            <a:r>
              <a:rPr lang="en-US" sz="1200" dirty="0">
                <a:solidFill>
                  <a:srgbClr val="2C2C2C"/>
                </a:solidFill>
                <a:latin typeface="Calibri" pitchFamily="34" charset="0"/>
                <a:ea typeface="Calibri" pitchFamily="34" charset="-122"/>
                <a:cs typeface="Calibri" pitchFamily="34" charset="-120"/>
              </a:rPr>
              <a:t>Figure 3 is the correlation heatmap. Maize and beans prices are strongly linked in a positive way. Both also rise with the food price index and with the year. Figure 4 shows the average price of each crop by year. You can see a clear upward trend from 2007. Figure 5 is a scatter of maize against beans and it confirms the positive link.</a:t>
            </a:r>
            <a:endParaRPr lang="en-US" sz="1200" dirty="0"/>
          </a:p>
        </p:txBody>
      </p:sp>
      <p:sp>
        <p:nvSpPr>
          <p:cNvPr id="7" name="Shape 5"/>
          <p:cNvSpPr/>
          <p:nvPr/>
        </p:nvSpPr>
        <p:spPr>
          <a:xfrm>
            <a:off x="274320" y="2057400"/>
            <a:ext cx="8595360" cy="1280160"/>
          </a:xfrm>
          <a:prstGeom prst="roundRect">
            <a:avLst>
              <a:gd name="adj" fmla="val 5714"/>
            </a:avLst>
          </a:prstGeom>
          <a:solidFill>
            <a:srgbClr val="FFFFFF"/>
          </a:solidFill>
          <a:ln/>
          <a:effectLst>
            <a:outerShdw blurRad="38100" dist="12700" dir="16200000" algn="bl" rotWithShape="0">
              <a:srgbClr val="000000">
                <a:alpha val="7000"/>
              </a:srgbClr>
            </a:outerShdw>
          </a:effectLst>
        </p:spPr>
      </p:sp>
      <p:sp>
        <p:nvSpPr>
          <p:cNvPr id="8" name="Text 6"/>
          <p:cNvSpPr/>
          <p:nvPr/>
        </p:nvSpPr>
        <p:spPr>
          <a:xfrm>
            <a:off x="457200" y="2194560"/>
            <a:ext cx="8229600" cy="274320"/>
          </a:xfrm>
          <a:prstGeom prst="rect">
            <a:avLst/>
          </a:prstGeom>
          <a:noFill/>
          <a:ln/>
        </p:spPr>
        <p:txBody>
          <a:bodyPr wrap="square" rtlCol="0" anchor="ctr"/>
          <a:lstStyle/>
          <a:p>
            <a:pPr marL="0" indent="0">
              <a:buNone/>
            </a:pPr>
            <a:r>
              <a:rPr lang="en-US" sz="1400" b="1" dirty="0">
                <a:solidFill>
                  <a:srgbClr val="1B2A4A"/>
                </a:solidFill>
                <a:latin typeface="Century Gothic" pitchFamily="34" charset="0"/>
                <a:ea typeface="Century Gothic" pitchFamily="34" charset="-122"/>
                <a:cs typeface="Century Gothic" pitchFamily="34" charset="-120"/>
              </a:rPr>
              <a:t>Missing Data Pictures</a:t>
            </a:r>
            <a:endParaRPr lang="en-US" sz="1400" dirty="0"/>
          </a:p>
        </p:txBody>
      </p:sp>
      <p:sp>
        <p:nvSpPr>
          <p:cNvPr id="9" name="Text 7"/>
          <p:cNvSpPr/>
          <p:nvPr/>
        </p:nvSpPr>
        <p:spPr>
          <a:xfrm>
            <a:off x="457200" y="2560320"/>
            <a:ext cx="8229600" cy="640080"/>
          </a:xfrm>
          <a:prstGeom prst="rect">
            <a:avLst/>
          </a:prstGeom>
          <a:noFill/>
          <a:ln/>
        </p:spPr>
        <p:txBody>
          <a:bodyPr wrap="square" rtlCol="0" anchor="ctr"/>
          <a:lstStyle/>
          <a:p>
            <a:pPr marL="0" indent="0">
              <a:buNone/>
            </a:pPr>
            <a:r>
              <a:rPr lang="en-US" sz="1200" dirty="0">
                <a:solidFill>
                  <a:srgbClr val="2C2C2C"/>
                </a:solidFill>
                <a:latin typeface="Calibri" pitchFamily="34" charset="0"/>
                <a:ea typeface="Calibri" pitchFamily="34" charset="-122"/>
                <a:cs typeface="Calibri" pitchFamily="34" charset="-120"/>
              </a:rPr>
              <a:t>Figure 6 shows the percentage of missing values in the original observed price columns. Many of them have more than 50% missing. The completed series that we used as targets have no missing values at all. This difference is why we decided to model with the completed prices.</a:t>
            </a:r>
            <a:endParaRPr lang="en-US" sz="1200" dirty="0"/>
          </a:p>
        </p:txBody>
      </p:sp>
      <p:sp>
        <p:nvSpPr>
          <p:cNvPr id="10" name="Shape 8"/>
          <p:cNvSpPr/>
          <p:nvPr/>
        </p:nvSpPr>
        <p:spPr>
          <a:xfrm>
            <a:off x="274320" y="3474720"/>
            <a:ext cx="8595360" cy="1280160"/>
          </a:xfrm>
          <a:prstGeom prst="roundRect">
            <a:avLst>
              <a:gd name="adj" fmla="val 5714"/>
            </a:avLst>
          </a:prstGeom>
          <a:solidFill>
            <a:srgbClr val="FFFFFF"/>
          </a:solidFill>
          <a:ln/>
          <a:effectLst>
            <a:outerShdw blurRad="38100" dist="12700" dir="16200000" algn="bl" rotWithShape="0">
              <a:srgbClr val="000000">
                <a:alpha val="7000"/>
              </a:srgbClr>
            </a:outerShdw>
          </a:effectLst>
        </p:spPr>
      </p:sp>
      <p:sp>
        <p:nvSpPr>
          <p:cNvPr id="11" name="Text 9"/>
          <p:cNvSpPr/>
          <p:nvPr/>
        </p:nvSpPr>
        <p:spPr>
          <a:xfrm>
            <a:off x="457200" y="3611880"/>
            <a:ext cx="8229600" cy="274320"/>
          </a:xfrm>
          <a:prstGeom prst="rect">
            <a:avLst/>
          </a:prstGeom>
          <a:noFill/>
          <a:ln/>
        </p:spPr>
        <p:txBody>
          <a:bodyPr wrap="square" rtlCol="0" anchor="ctr"/>
          <a:lstStyle/>
          <a:p>
            <a:pPr marL="0" indent="0">
              <a:buNone/>
            </a:pPr>
            <a:r>
              <a:rPr lang="en-US" sz="1400" b="1" dirty="0">
                <a:solidFill>
                  <a:srgbClr val="1B2A4A"/>
                </a:solidFill>
                <a:latin typeface="Century Gothic" pitchFamily="34" charset="0"/>
                <a:ea typeface="Century Gothic" pitchFamily="34" charset="-122"/>
                <a:cs typeface="Century Gothic" pitchFamily="34" charset="-120"/>
              </a:rPr>
              <a:t>Outliers and the Targets</a:t>
            </a:r>
            <a:endParaRPr lang="en-US" sz="1400" dirty="0"/>
          </a:p>
        </p:txBody>
      </p:sp>
      <p:sp>
        <p:nvSpPr>
          <p:cNvPr id="12" name="Text 10"/>
          <p:cNvSpPr/>
          <p:nvPr/>
        </p:nvSpPr>
        <p:spPr>
          <a:xfrm>
            <a:off x="457200" y="3977640"/>
            <a:ext cx="8229600" cy="640080"/>
          </a:xfrm>
          <a:prstGeom prst="rect">
            <a:avLst/>
          </a:prstGeom>
          <a:noFill/>
          <a:ln/>
        </p:spPr>
        <p:txBody>
          <a:bodyPr wrap="square" rtlCol="0" anchor="ctr"/>
          <a:lstStyle/>
          <a:p>
            <a:pPr marL="0" indent="0">
              <a:buNone/>
            </a:pPr>
            <a:r>
              <a:rPr lang="en-US" sz="1200" dirty="0">
                <a:solidFill>
                  <a:srgbClr val="2C2C2C"/>
                </a:solidFill>
                <a:latin typeface="Calibri" pitchFamily="34" charset="0"/>
                <a:ea typeface="Calibri" pitchFamily="34" charset="-122"/>
                <a:cs typeface="Calibri" pitchFamily="34" charset="-120"/>
              </a:rPr>
              <a:t>The high price points that the IQR rule flagged appear in several different years. They are not all from one short crisis. That is why we kept them. Both targets are still continuous and right-skewed after cleaning. If a later model works better with more normal residuals we can still try a log transform.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82880"/>
            <a:ext cx="8229600" cy="320040"/>
          </a:xfrm>
          <a:prstGeom prst="rect">
            <a:avLst/>
          </a:prstGeom>
          <a:noFill/>
          <a:ln/>
        </p:spPr>
        <p:txBody>
          <a:bodyPr wrap="square" rtlCol="0" anchor="ctr"/>
          <a:lstStyle/>
          <a:p>
            <a:pPr marL="0" indent="0">
              <a:buNone/>
            </a:pPr>
            <a:r>
              <a:rPr lang="en-US" sz="1800" b="1" dirty="0">
                <a:solidFill>
                  <a:srgbClr val="1B2A4A"/>
                </a:solidFill>
                <a:latin typeface="Century Gothic" pitchFamily="34" charset="0"/>
                <a:ea typeface="Century Gothic" pitchFamily="34" charset="-122"/>
                <a:cs typeface="Century Gothic" pitchFamily="34" charset="-120"/>
              </a:rPr>
              <a:t>WHAT WE FOUND AND WHAT COMES NEXT</a:t>
            </a:r>
            <a:endParaRPr lang="en-US" sz="1800" dirty="0"/>
          </a:p>
        </p:txBody>
      </p:sp>
      <p:sp>
        <p:nvSpPr>
          <p:cNvPr id="4" name="Shape 2"/>
          <p:cNvSpPr/>
          <p:nvPr/>
        </p:nvSpPr>
        <p:spPr>
          <a:xfrm>
            <a:off x="365760" y="640080"/>
            <a:ext cx="8412480" cy="1371600"/>
          </a:xfrm>
          <a:prstGeom prst="roundRect">
            <a:avLst>
              <a:gd name="adj" fmla="val 5333"/>
            </a:avLst>
          </a:prstGeom>
          <a:solidFill>
            <a:srgbClr val="E6F4F5"/>
          </a:solidFill>
          <a:ln/>
        </p:spPr>
      </p:sp>
      <p:sp>
        <p:nvSpPr>
          <p:cNvPr id="5" name="Text 3"/>
          <p:cNvSpPr/>
          <p:nvPr/>
        </p:nvSpPr>
        <p:spPr>
          <a:xfrm>
            <a:off x="548640" y="822960"/>
            <a:ext cx="8046720" cy="1097280"/>
          </a:xfrm>
          <a:prstGeom prst="rect">
            <a:avLst/>
          </a:prstGeom>
          <a:noFill/>
          <a:ln/>
        </p:spPr>
        <p:txBody>
          <a:bodyPr wrap="square" rtlCol="0" anchor="ctr"/>
          <a:lstStyle/>
          <a:p>
            <a:pPr marL="0" indent="0">
              <a:buNone/>
            </a:pPr>
            <a:r>
              <a:rPr lang="en-US" sz="1300" dirty="0">
                <a:solidFill>
                  <a:srgbClr val="2C2C2C"/>
                </a:solidFill>
                <a:latin typeface="Calibri" pitchFamily="34" charset="0"/>
                <a:ea typeface="Calibri" pitchFamily="34" charset="-122"/>
                <a:cs typeface="Calibri" pitchFamily="34" charset="-120"/>
              </a:rPr>
              <a:t>We cleaned the data, encoded the markets, scaled the numbers and split the set. The finished maize and beans price series are ready for regression models. The main things we saw are a long-term upward trend, a strong positive link between the two crops, and real high-price periods that should stay in the data.</a:t>
            </a:r>
            <a:endParaRPr lang="en-US" sz="1300" dirty="0"/>
          </a:p>
        </p:txBody>
      </p:sp>
      <p:sp>
        <p:nvSpPr>
          <p:cNvPr id="6" name="Text 4"/>
          <p:cNvSpPr/>
          <p:nvPr/>
        </p:nvSpPr>
        <p:spPr>
          <a:xfrm>
            <a:off x="457200" y="2194560"/>
            <a:ext cx="8229600" cy="320040"/>
          </a:xfrm>
          <a:prstGeom prst="rect">
            <a:avLst/>
          </a:prstGeom>
          <a:noFill/>
          <a:ln/>
        </p:spPr>
        <p:txBody>
          <a:bodyPr wrap="square" rtlCol="0" anchor="ctr"/>
          <a:lstStyle/>
          <a:p>
            <a:pPr marL="0" indent="0">
              <a:buNone/>
            </a:pPr>
            <a:r>
              <a:rPr lang="en-US" sz="1500" b="1" dirty="0">
                <a:solidFill>
                  <a:srgbClr val="1B2A4A"/>
                </a:solidFill>
                <a:latin typeface="Century Gothic" pitchFamily="34" charset="0"/>
                <a:ea typeface="Century Gothic" pitchFamily="34" charset="-122"/>
                <a:cs typeface="Century Gothic" pitchFamily="34" charset="-120"/>
              </a:rPr>
              <a:t>Next things we will do</a:t>
            </a:r>
            <a:endParaRPr lang="en-US" sz="1500" dirty="0"/>
          </a:p>
        </p:txBody>
      </p:sp>
      <p:sp>
        <p:nvSpPr>
          <p:cNvPr id="7" name="Shape 5"/>
          <p:cNvSpPr/>
          <p:nvPr/>
        </p:nvSpPr>
        <p:spPr>
          <a:xfrm>
            <a:off x="457200" y="2651760"/>
            <a:ext cx="411480" cy="411480"/>
          </a:xfrm>
          <a:prstGeom prst="ellipse">
            <a:avLst/>
          </a:prstGeom>
          <a:solidFill>
            <a:srgbClr val="1B2A4A"/>
          </a:solidFill>
          <a:ln/>
        </p:spPr>
      </p:sp>
      <p:sp>
        <p:nvSpPr>
          <p:cNvPr id="8" name="Text 6"/>
          <p:cNvSpPr/>
          <p:nvPr/>
        </p:nvSpPr>
        <p:spPr>
          <a:xfrm>
            <a:off x="457200" y="2651760"/>
            <a:ext cx="411480" cy="411480"/>
          </a:xfrm>
          <a:prstGeom prst="rect">
            <a:avLst/>
          </a:prstGeom>
          <a:noFill/>
          <a:ln/>
        </p:spPr>
        <p:txBody>
          <a:bodyPr wrap="square" rtlCol="0" anchor="ctr"/>
          <a:lstStyle/>
          <a:p>
            <a:pPr marL="0" indent="0" algn="ctr">
              <a:buNone/>
            </a:pPr>
            <a:r>
              <a:rPr lang="en-US" sz="1400" b="1" dirty="0">
                <a:solidFill>
                  <a:srgbClr val="FFFFFF"/>
                </a:solidFill>
                <a:latin typeface="Century Gothic" pitchFamily="34" charset="0"/>
                <a:ea typeface="Century Gothic" pitchFamily="34" charset="-122"/>
                <a:cs typeface="Century Gothic" pitchFamily="34" charset="-120"/>
              </a:rPr>
              <a:t>1</a:t>
            </a:r>
            <a:endParaRPr lang="en-US" sz="1400" dirty="0"/>
          </a:p>
        </p:txBody>
      </p:sp>
      <p:sp>
        <p:nvSpPr>
          <p:cNvPr id="9" name="Text 7"/>
          <p:cNvSpPr/>
          <p:nvPr/>
        </p:nvSpPr>
        <p:spPr>
          <a:xfrm>
            <a:off x="1051560" y="2651760"/>
            <a:ext cx="7589520" cy="502920"/>
          </a:xfrm>
          <a:prstGeom prst="rect">
            <a:avLst/>
          </a:prstGeom>
          <a:noFill/>
          <a:ln/>
        </p:spPr>
        <p:txBody>
          <a:bodyPr wrap="square" rtlCol="0" anchor="ctr"/>
          <a:lstStyle/>
          <a:p>
            <a:pPr marL="0" indent="0">
              <a:buNone/>
            </a:pPr>
            <a:r>
              <a:rPr lang="en-US" sz="1300" dirty="0">
                <a:solidFill>
                  <a:srgbClr val="2C2C2C"/>
                </a:solidFill>
                <a:latin typeface="Calibri" pitchFamily="34" charset="0"/>
                <a:ea typeface="Calibri" pitchFamily="34" charset="-122"/>
                <a:cs typeface="Calibri" pitchFamily="34" charset="-120"/>
              </a:rPr>
              <a:t>Train a few regression models (linear regression, random forest and gradient boosting) on the training set we prepared.</a:t>
            </a:r>
            <a:endParaRPr lang="en-US" sz="1300" dirty="0"/>
          </a:p>
        </p:txBody>
      </p:sp>
      <p:sp>
        <p:nvSpPr>
          <p:cNvPr id="10" name="Shape 8"/>
          <p:cNvSpPr/>
          <p:nvPr/>
        </p:nvSpPr>
        <p:spPr>
          <a:xfrm>
            <a:off x="457200" y="3337560"/>
            <a:ext cx="411480" cy="411480"/>
          </a:xfrm>
          <a:prstGeom prst="ellipse">
            <a:avLst/>
          </a:prstGeom>
          <a:solidFill>
            <a:srgbClr val="1B2A4A"/>
          </a:solidFill>
          <a:ln/>
        </p:spPr>
      </p:sp>
      <p:sp>
        <p:nvSpPr>
          <p:cNvPr id="11" name="Text 9"/>
          <p:cNvSpPr/>
          <p:nvPr/>
        </p:nvSpPr>
        <p:spPr>
          <a:xfrm>
            <a:off x="457200" y="3337560"/>
            <a:ext cx="411480" cy="411480"/>
          </a:xfrm>
          <a:prstGeom prst="rect">
            <a:avLst/>
          </a:prstGeom>
          <a:noFill/>
          <a:ln/>
        </p:spPr>
        <p:txBody>
          <a:bodyPr wrap="square" rtlCol="0" anchor="ctr"/>
          <a:lstStyle/>
          <a:p>
            <a:pPr marL="0" indent="0" algn="ctr">
              <a:buNone/>
            </a:pPr>
            <a:r>
              <a:rPr lang="en-US" sz="1400" b="1" dirty="0">
                <a:solidFill>
                  <a:srgbClr val="FFFFFF"/>
                </a:solidFill>
                <a:latin typeface="Century Gothic" pitchFamily="34" charset="0"/>
                <a:ea typeface="Century Gothic" pitchFamily="34" charset="-122"/>
                <a:cs typeface="Century Gothic" pitchFamily="34" charset="-120"/>
              </a:rPr>
              <a:t>2</a:t>
            </a:r>
            <a:endParaRPr lang="en-US" sz="1400" dirty="0"/>
          </a:p>
        </p:txBody>
      </p:sp>
      <p:sp>
        <p:nvSpPr>
          <p:cNvPr id="12" name="Text 10"/>
          <p:cNvSpPr/>
          <p:nvPr/>
        </p:nvSpPr>
        <p:spPr>
          <a:xfrm>
            <a:off x="1051560" y="3337560"/>
            <a:ext cx="7589520" cy="502920"/>
          </a:xfrm>
          <a:prstGeom prst="rect">
            <a:avLst/>
          </a:prstGeom>
          <a:noFill/>
          <a:ln/>
        </p:spPr>
        <p:txBody>
          <a:bodyPr wrap="square" rtlCol="0" anchor="ctr"/>
          <a:lstStyle/>
          <a:p>
            <a:pPr marL="0" indent="0">
              <a:buNone/>
            </a:pPr>
            <a:r>
              <a:rPr lang="en-US" sz="1300" dirty="0">
                <a:solidFill>
                  <a:srgbClr val="2C2C2C"/>
                </a:solidFill>
                <a:latin typeface="Calibri" pitchFamily="34" charset="0"/>
                <a:ea typeface="Calibri" pitchFamily="34" charset="-122"/>
                <a:cs typeface="Calibri" pitchFamily="34" charset="-120"/>
              </a:rPr>
              <a:t>Test the models on the held-out set using MAE and median absolute error because the targets are skewed.</a:t>
            </a:r>
            <a:endParaRPr lang="en-US" sz="1300" dirty="0"/>
          </a:p>
        </p:txBody>
      </p:sp>
      <p:sp>
        <p:nvSpPr>
          <p:cNvPr id="13" name="Shape 11"/>
          <p:cNvSpPr/>
          <p:nvPr/>
        </p:nvSpPr>
        <p:spPr>
          <a:xfrm>
            <a:off x="457200" y="4023360"/>
            <a:ext cx="411480" cy="411480"/>
          </a:xfrm>
          <a:prstGeom prst="ellipse">
            <a:avLst/>
          </a:prstGeom>
          <a:solidFill>
            <a:srgbClr val="1B2A4A"/>
          </a:solidFill>
          <a:ln/>
        </p:spPr>
      </p:sp>
      <p:sp>
        <p:nvSpPr>
          <p:cNvPr id="14" name="Text 12"/>
          <p:cNvSpPr/>
          <p:nvPr/>
        </p:nvSpPr>
        <p:spPr>
          <a:xfrm>
            <a:off x="457200" y="4023360"/>
            <a:ext cx="411480" cy="411480"/>
          </a:xfrm>
          <a:prstGeom prst="rect">
            <a:avLst/>
          </a:prstGeom>
          <a:noFill/>
          <a:ln/>
        </p:spPr>
        <p:txBody>
          <a:bodyPr wrap="square" rtlCol="0" anchor="ctr"/>
          <a:lstStyle/>
          <a:p>
            <a:pPr marL="0" indent="0" algn="ctr">
              <a:buNone/>
            </a:pPr>
            <a:r>
              <a:rPr lang="en-US" sz="1400" b="1" dirty="0">
                <a:solidFill>
                  <a:srgbClr val="FFFFFF"/>
                </a:solidFill>
                <a:latin typeface="Century Gothic" pitchFamily="34" charset="0"/>
                <a:ea typeface="Century Gothic" pitchFamily="34" charset="-122"/>
                <a:cs typeface="Century Gothic" pitchFamily="34" charset="-120"/>
              </a:rPr>
              <a:t>3</a:t>
            </a:r>
            <a:endParaRPr lang="en-US" sz="1400" dirty="0"/>
          </a:p>
        </p:txBody>
      </p:sp>
      <p:sp>
        <p:nvSpPr>
          <p:cNvPr id="15" name="Text 13"/>
          <p:cNvSpPr/>
          <p:nvPr/>
        </p:nvSpPr>
        <p:spPr>
          <a:xfrm>
            <a:off x="1051560" y="4023360"/>
            <a:ext cx="7589520" cy="502920"/>
          </a:xfrm>
          <a:prstGeom prst="rect">
            <a:avLst/>
          </a:prstGeom>
          <a:noFill/>
          <a:ln/>
        </p:spPr>
        <p:txBody>
          <a:bodyPr wrap="square" rtlCol="0" anchor="ctr"/>
          <a:lstStyle/>
          <a:p>
            <a:pPr marL="0" indent="0">
              <a:buNone/>
            </a:pPr>
            <a:r>
              <a:rPr lang="en-US" sz="1300" dirty="0">
                <a:solidFill>
                  <a:srgbClr val="2C2C2C"/>
                </a:solidFill>
                <a:latin typeface="Calibri" pitchFamily="34" charset="0"/>
                <a:ea typeface="Calibri" pitchFamily="34" charset="-122"/>
                <a:cs typeface="Calibri" pitchFamily="34" charset="-120"/>
              </a:rPr>
              <a:t>Look at feature importance and residual plots to see which predictors matter most and whether a log transform helps.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457200" y="182880"/>
            <a:ext cx="8229600" cy="320040"/>
          </a:xfrm>
          <a:prstGeom prst="rect">
            <a:avLst/>
          </a:prstGeom>
          <a:noFill/>
          <a:ln/>
        </p:spPr>
        <p:txBody>
          <a:bodyPr wrap="square" rtlCol="0" anchor="ctr"/>
          <a:lstStyle/>
          <a:p>
            <a:pPr marL="0" indent="0">
              <a:buNone/>
            </a:pPr>
            <a:r>
              <a:rPr lang="en-US" sz="2000" b="1" dirty="0">
                <a:solidFill>
                  <a:srgbClr val="1B2A4A"/>
                </a:solidFill>
                <a:latin typeface="Century Gothic" pitchFamily="34" charset="0"/>
                <a:ea typeface="Century Gothic" pitchFamily="34" charset="-122"/>
                <a:cs typeface="Century Gothic" pitchFamily="34" charset="-120"/>
              </a:rPr>
              <a:t>REFERENCES</a:t>
            </a:r>
            <a:endParaRPr lang="en-US" sz="2000" dirty="0"/>
          </a:p>
        </p:txBody>
      </p:sp>
      <p:sp>
        <p:nvSpPr>
          <p:cNvPr id="4" name="Text 2"/>
          <p:cNvSpPr/>
          <p:nvPr/>
        </p:nvSpPr>
        <p:spPr>
          <a:xfrm>
            <a:off x="365760" y="594360"/>
            <a:ext cx="8412480" cy="45720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[1] J. Han, M. Kamber, and J. Pei, Data Mining: Concepts and Techniques, 3rd ed. Morgan Kaufmann, 2011.</a:t>
            </a:r>
            <a:endParaRPr lang="en-US" sz="1100" dirty="0"/>
          </a:p>
        </p:txBody>
      </p:sp>
      <p:sp>
        <p:nvSpPr>
          <p:cNvPr id="5" name="Text 3"/>
          <p:cNvSpPr/>
          <p:nvPr/>
        </p:nvSpPr>
        <p:spPr>
          <a:xfrm>
            <a:off x="365760" y="1097280"/>
            <a:ext cx="8412480" cy="45720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[2] U. Fayyad, G. Piatetsky-Shapiro, and P. Smyth, “From data mining to knowledge discovery in databases,” AI Magazine, vol. 17, no. 3, pp. 37–54, 1996.</a:t>
            </a:r>
            <a:endParaRPr lang="en-US" sz="1100" dirty="0"/>
          </a:p>
        </p:txBody>
      </p:sp>
      <p:sp>
        <p:nvSpPr>
          <p:cNvPr id="6" name="Text 4"/>
          <p:cNvSpPr/>
          <p:nvPr/>
        </p:nvSpPr>
        <p:spPr>
          <a:xfrm>
            <a:off x="365760" y="1600200"/>
            <a:ext cx="8412480" cy="45720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[3] World Bank, “Uganda – Monthly food price estimates by product and market (RTFP),” Microdata Library, 2026. [Online]. Available: https://microdata.worldbank.org/catalog/8241</a:t>
            </a:r>
            <a:endParaRPr lang="en-US" sz="1100" dirty="0"/>
          </a:p>
        </p:txBody>
      </p:sp>
      <p:sp>
        <p:nvSpPr>
          <p:cNvPr id="7" name="Text 5"/>
          <p:cNvSpPr/>
          <p:nvPr/>
        </p:nvSpPr>
        <p:spPr>
          <a:xfrm>
            <a:off x="365760" y="2103120"/>
            <a:ext cx="8412480" cy="45720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[4] J. W. Tukey, Exploratory Data Analysis. Addison-Wesley, 1977.</a:t>
            </a:r>
            <a:endParaRPr lang="en-US" sz="1100" dirty="0"/>
          </a:p>
        </p:txBody>
      </p:sp>
      <p:sp>
        <p:nvSpPr>
          <p:cNvPr id="8" name="Text 6"/>
          <p:cNvSpPr/>
          <p:nvPr/>
        </p:nvSpPr>
        <p:spPr>
          <a:xfrm>
            <a:off x="365760" y="2606040"/>
            <a:ext cx="8412480" cy="45720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[5] Kabale University, BCS 3101 Assignment 2 Companion Guide: The Data Pre-processing &amp; Exploratory Data Analysis Pipeline, 2026.</a:t>
            </a:r>
            <a:endParaRPr lang="en-US" sz="1100" dirty="0"/>
          </a:p>
        </p:txBody>
      </p:sp>
      <p:sp>
        <p:nvSpPr>
          <p:cNvPr id="9" name="Text 7"/>
          <p:cNvSpPr/>
          <p:nvPr/>
        </p:nvSpPr>
        <p:spPr>
          <a:xfrm>
            <a:off x="365760" y="3108960"/>
            <a:ext cx="8412480" cy="45720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[6] F. Pedregosa et al., “Scikit-learn: Machine learning in Python,” Journal of Machine Learning Research, vol. 12, pp. 2825–2830, 2011.</a:t>
            </a:r>
            <a:endParaRPr lang="en-US" sz="1100" dirty="0"/>
          </a:p>
        </p:txBody>
      </p:sp>
      <p:sp>
        <p:nvSpPr>
          <p:cNvPr id="10" name="Text 8"/>
          <p:cNvSpPr/>
          <p:nvPr/>
        </p:nvSpPr>
        <p:spPr>
          <a:xfrm>
            <a:off x="365760" y="3611880"/>
            <a:ext cx="8412480" cy="45720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[7] W. McKinney, “Data structures for statistical computing in Python,” in Proc. 9th Python in Science Conf., 2010, pp. 56–61.</a:t>
            </a:r>
            <a:endParaRPr lang="en-US" sz="1100" dirty="0"/>
          </a:p>
        </p:txBody>
      </p:sp>
      <p:sp>
        <p:nvSpPr>
          <p:cNvPr id="11" name="Text 9"/>
          <p:cNvSpPr/>
          <p:nvPr/>
        </p:nvSpPr>
        <p:spPr>
          <a:xfrm>
            <a:off x="365760" y="4114800"/>
            <a:ext cx="8412480" cy="457200"/>
          </a:xfrm>
          <a:prstGeom prst="rect">
            <a:avLst/>
          </a:prstGeom>
          <a:noFill/>
          <a:ln/>
        </p:spPr>
        <p:txBody>
          <a:bodyPr wrap="square" rtlCol="0" anchor="ctr"/>
          <a:lstStyle/>
          <a:p>
            <a:pPr marL="0" indent="0">
              <a:buNone/>
            </a:pPr>
            <a:r>
              <a:rPr lang="en-US" sz="1100" dirty="0">
                <a:solidFill>
                  <a:srgbClr val="2C2C2C"/>
                </a:solidFill>
                <a:latin typeface="Calibri" pitchFamily="34" charset="0"/>
                <a:ea typeface="Calibri" pitchFamily="34" charset="-122"/>
                <a:cs typeface="Calibri" pitchFamily="34" charset="-120"/>
              </a:rPr>
              <a:t>[8] D. B. Rubin, “Inference and missing data,” Biometrika, vol. 63, no. 3, pp. 581–592, 1976.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1841</Words>
  <Application>Microsoft Office PowerPoint</Application>
  <PresentationFormat>On-screen Show (16:9)</PresentationFormat>
  <Paragraphs>170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Century Gothic</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Monthly Maize and Beans Prices in Selected Ugandan Markets</dc:title>
  <dc:subject>BCS 3101 Assignment 2 - Machine Learning</dc:subject>
  <dc:creator>AINEBYONA ALLAN and Group</dc:creator>
  <cp:lastModifiedBy>Ainebyona Allan</cp:lastModifiedBy>
  <cp:revision>2</cp:revision>
  <dcterms:created xsi:type="dcterms:W3CDTF">2026-10-05T10:35:41Z</dcterms:created>
  <dcterms:modified xsi:type="dcterms:W3CDTF">2026-10-05T11:10:31Z</dcterms:modified>
</cp:coreProperties>
</file>